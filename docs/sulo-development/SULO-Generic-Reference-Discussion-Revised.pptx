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4292c48ab94053" /><Relationship Type="http://schemas.openxmlformats.org/officeDocument/2006/relationships/extended-properties" Target="/docProps/app.xml" Id="Re48be2712b424eac" /><Relationship Type="http://schemas.openxmlformats.org/officeDocument/2006/relationships/officeDocument" Target="/ppt/presentation.xml" Id="Rb174210e87a94a97" /></Relationships>
</file>

<file path=ppt/presentation.xml><?xml version="1.0" encoding="utf-8"?>
<p:presentation xmlns:p="http://schemas.openxmlformats.org/presentationml/2006/main">
  <p:sldMasterIdLst>
    <p:sldMasterId xmlns:r="http://schemas.openxmlformats.org/officeDocument/2006/relationships" id="2147483648" r:id="R3dd172f837df4808"/>
  </p:sldMasterIdLst>
  <p:notesMasterIdLst>
    <p:notesMasterId xmlns:r="http://schemas.openxmlformats.org/officeDocument/2006/relationships" r:id="Rb7701a6bb4e14d6c"/>
  </p:notesMasterIdLst>
  <p:sldIdLst>
    <p:sldId xmlns:r="http://schemas.openxmlformats.org/officeDocument/2006/relationships" id="256" r:id="R06d5df30a3654754"/>
    <p:sldId xmlns:r="http://schemas.openxmlformats.org/officeDocument/2006/relationships" id="257" r:id="Rc5b9ad05878d4023"/>
    <p:sldId xmlns:r="http://schemas.openxmlformats.org/officeDocument/2006/relationships" id="258" r:id="R387a0ed1172e4fa0"/>
    <p:sldId xmlns:r="http://schemas.openxmlformats.org/officeDocument/2006/relationships" id="259" r:id="R27ebdbebff924892"/>
    <p:sldId xmlns:r="http://schemas.openxmlformats.org/officeDocument/2006/relationships" id="260" r:id="Re88f8fc34b7c4395"/>
    <p:sldId xmlns:r="http://schemas.openxmlformats.org/officeDocument/2006/relationships" id="261" r:id="Rbde17c6df82c4fd2"/>
    <p:sldId xmlns:r="http://schemas.openxmlformats.org/officeDocument/2006/relationships" id="262" r:id="R09c4245c63044a70"/>
    <p:sldId xmlns:r="http://schemas.openxmlformats.org/officeDocument/2006/relationships" id="263" r:id="R3956012ab5354dc7"/>
    <p:sldId xmlns:r="http://schemas.openxmlformats.org/officeDocument/2006/relationships" id="264" r:id="R5f1a5708755d4268"/>
    <p:sldId xmlns:r="http://schemas.openxmlformats.org/officeDocument/2006/relationships" id="265" r:id="R3aae07fb1fb54fa3"/>
    <p:sldId xmlns:r="http://schemas.openxmlformats.org/officeDocument/2006/relationships" id="266" r:id="Rb8acd4b056ce4284"/>
    <p:sldId xmlns:r="http://schemas.openxmlformats.org/officeDocument/2006/relationships" id="267" r:id="R3a1266cad3734601"/>
    <p:sldId xmlns:r="http://schemas.openxmlformats.org/officeDocument/2006/relationships" id="268" r:id="Reba01c9bbc584886"/>
    <p:sldId xmlns:r="http://schemas.openxmlformats.org/officeDocument/2006/relationships" id="269" r:id="Raaab52435b944500"/>
    <p:sldId xmlns:r="http://schemas.openxmlformats.org/officeDocument/2006/relationships" id="270" r:id="R950c238366a24d97"/>
    <p:sldId xmlns:r="http://schemas.openxmlformats.org/officeDocument/2006/relationships" id="271" r:id="R17213cb2f491437e"/>
    <p:sldId xmlns:r="http://schemas.openxmlformats.org/officeDocument/2006/relationships" id="272" r:id="R95cdee36e93844e4"/>
    <p:sldId xmlns:r="http://schemas.openxmlformats.org/officeDocument/2006/relationships" id="273" r:id="Re5de3d535e0c495f"/>
    <p:sldId xmlns:r="http://schemas.openxmlformats.org/officeDocument/2006/relationships" id="274" r:id="Rc4925ed5fb624212"/>
    <p:sldId xmlns:r="http://schemas.openxmlformats.org/officeDocument/2006/relationships" id="275" r:id="Rb18f45ed12f542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36abef2ad748d9" /><Relationship Type="http://schemas.openxmlformats.org/officeDocument/2006/relationships/slideMaster" Target="/ppt/slideMasters/slideMaster1.xml" Id="R3dd172f837df4808" /><Relationship Type="http://schemas.openxmlformats.org/officeDocument/2006/relationships/notesMaster" Target="/ppt/notesMasters/notesMaster1.xml" Id="Rb7701a6bb4e14d6c" /><Relationship Type="http://schemas.openxmlformats.org/officeDocument/2006/relationships/presProps" Target="/ppt/presProps.xml" Id="R7b2596abe92a4f4f" /><Relationship Type="http://schemas.openxmlformats.org/officeDocument/2006/relationships/tableStyles" Target="/ppt/tableStyles.xml" Id="R4ba5287494c34d42" /><Relationship Type="http://schemas.openxmlformats.org/officeDocument/2006/relationships/slide" Target="/ppt/slides/slide1.xml" Id="R06d5df30a3654754" /><Relationship Type="http://schemas.openxmlformats.org/officeDocument/2006/relationships/slide" Target="/ppt/slides/slide2.xml" Id="Rc5b9ad05878d4023" /><Relationship Type="http://schemas.openxmlformats.org/officeDocument/2006/relationships/slide" Target="/ppt/slides/slide3.xml" Id="R387a0ed1172e4fa0" /><Relationship Type="http://schemas.openxmlformats.org/officeDocument/2006/relationships/slide" Target="/ppt/slides/slide4.xml" Id="R27ebdbebff924892" /><Relationship Type="http://schemas.openxmlformats.org/officeDocument/2006/relationships/slide" Target="/ppt/slides/slide5.xml" Id="Re88f8fc34b7c4395" /><Relationship Type="http://schemas.openxmlformats.org/officeDocument/2006/relationships/slide" Target="/ppt/slides/slide6.xml" Id="Rbde17c6df82c4fd2" /><Relationship Type="http://schemas.openxmlformats.org/officeDocument/2006/relationships/slide" Target="/ppt/slides/slide7.xml" Id="R09c4245c63044a70" /><Relationship Type="http://schemas.openxmlformats.org/officeDocument/2006/relationships/slide" Target="/ppt/slides/slide8.xml" Id="R3956012ab5354dc7" /><Relationship Type="http://schemas.openxmlformats.org/officeDocument/2006/relationships/slide" Target="/ppt/slides/slide9.xml" Id="R5f1a5708755d4268" /><Relationship Type="http://schemas.openxmlformats.org/officeDocument/2006/relationships/slide" Target="/ppt/slides/slide10.xml" Id="R3aae07fb1fb54fa3" /><Relationship Type="http://schemas.openxmlformats.org/officeDocument/2006/relationships/slide" Target="/ppt/slides/slide11.xml" Id="Rb8acd4b056ce4284" /><Relationship Type="http://schemas.openxmlformats.org/officeDocument/2006/relationships/slide" Target="/ppt/slides/slide12.xml" Id="R3a1266cad3734601" /><Relationship Type="http://schemas.openxmlformats.org/officeDocument/2006/relationships/slide" Target="/ppt/slides/slide13.xml" Id="Reba01c9bbc584886" /><Relationship Type="http://schemas.openxmlformats.org/officeDocument/2006/relationships/slide" Target="/ppt/slides/slide14.xml" Id="Raaab52435b944500" /><Relationship Type="http://schemas.openxmlformats.org/officeDocument/2006/relationships/slide" Target="/ppt/slides/slide15.xml" Id="R950c238366a24d97" /><Relationship Type="http://schemas.openxmlformats.org/officeDocument/2006/relationships/slide" Target="/ppt/slides/slide16.xml" Id="R17213cb2f491437e" /><Relationship Type="http://schemas.openxmlformats.org/officeDocument/2006/relationships/slide" Target="/ppt/slides/slide17.xml" Id="R95cdee36e93844e4" /><Relationship Type="http://schemas.openxmlformats.org/officeDocument/2006/relationships/slide" Target="/ppt/slides/slide18.xml" Id="Re5de3d535e0c495f" /><Relationship Type="http://schemas.openxmlformats.org/officeDocument/2006/relationships/slide" Target="/ppt/slides/slide19.xml" Id="Rc4925ed5fb624212" /><Relationship Type="http://schemas.openxmlformats.org/officeDocument/2006/relationships/slide" Target="/ppt/slides/slide20.xml" Id="Rb18f45ed12f542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97ec38437141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01a3d39803489b" /><Relationship Type="http://schemas.openxmlformats.org/officeDocument/2006/relationships/notesMaster" Target="/ppt/notesMasters/notesMaster1.xml" Id="R6e3ab625a176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d7b48a1c3f4e7f" /><Relationship Type="http://schemas.openxmlformats.org/officeDocument/2006/relationships/notesMaster" Target="/ppt/notesMasters/notesMaster1.xml" Id="R5d99385ed41648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8e5bba4a824ef1" /><Relationship Type="http://schemas.openxmlformats.org/officeDocument/2006/relationships/notesMaster" Target="/ppt/notesMasters/notesMaster1.xml" Id="Ra2139bbfe07a4f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1ceb3cee014505" /><Relationship Type="http://schemas.openxmlformats.org/officeDocument/2006/relationships/notesMaster" Target="/ppt/notesMasters/notesMaster1.xml" Id="R85e82d25b19f44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fd74a0e1ab4699" /><Relationship Type="http://schemas.openxmlformats.org/officeDocument/2006/relationships/notesMaster" Target="/ppt/notesMasters/notesMaster1.xml" Id="R932273d5110749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354bdf1d72467d" /><Relationship Type="http://schemas.openxmlformats.org/officeDocument/2006/relationships/notesMaster" Target="/ppt/notesMasters/notesMaster1.xml" Id="R52f42c3f94f548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920184055346f3" /><Relationship Type="http://schemas.openxmlformats.org/officeDocument/2006/relationships/notesMaster" Target="/ppt/notesMasters/notesMaster1.xml" Id="Rfe6332e3044644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e13131017442e0" /><Relationship Type="http://schemas.openxmlformats.org/officeDocument/2006/relationships/notesMaster" Target="/ppt/notesMasters/notesMaster1.xml" Id="R3693f2265fc64b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270646e5854ff6" /><Relationship Type="http://schemas.openxmlformats.org/officeDocument/2006/relationships/notesMaster" Target="/ppt/notesMasters/notesMaster1.xml" Id="R4a768086429548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55f0396b2d4a8a" /><Relationship Type="http://schemas.openxmlformats.org/officeDocument/2006/relationships/notesMaster" Target="/ppt/notesMasters/notesMaster1.xml" Id="Rdbdfd5e7147a49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7332672c844f13" /><Relationship Type="http://schemas.openxmlformats.org/officeDocument/2006/relationships/notesMaster" Target="/ppt/notesMasters/notesMaster1.xml" Id="R98e2379cacf244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97da7d69a94c8d" /><Relationship Type="http://schemas.openxmlformats.org/officeDocument/2006/relationships/notesMaster" Target="/ppt/notesMasters/notesMaster1.xml" Id="R372a6d604d2f4c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6f5cba6d084e81" /><Relationship Type="http://schemas.openxmlformats.org/officeDocument/2006/relationships/notesMaster" Target="/ppt/notesMasters/notesMaster1.xml" Id="R5bbb04604aac4b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482867c50e43dc" /><Relationship Type="http://schemas.openxmlformats.org/officeDocument/2006/relationships/notesMaster" Target="/ppt/notesMasters/notesMaster1.xml" Id="R4d1cfef89f6f41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4041534ebd47ef" /><Relationship Type="http://schemas.openxmlformats.org/officeDocument/2006/relationships/notesMaster" Target="/ppt/notesMasters/notesMaster1.xml" Id="R2bd1d40a73004e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6998c8db80467a" /><Relationship Type="http://schemas.openxmlformats.org/officeDocument/2006/relationships/notesMaster" Target="/ppt/notesMasters/notesMaster1.xml" Id="Rce186e795a4440d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6d0a3577e1c4362" /><Relationship Type="http://schemas.openxmlformats.org/officeDocument/2006/relationships/notesMaster" Target="/ppt/notesMasters/notesMaster1.xml" Id="Rc6bc4a2845fa41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41331fc8a04af9" /><Relationship Type="http://schemas.openxmlformats.org/officeDocument/2006/relationships/notesMaster" Target="/ppt/notesMasters/notesMaster1.xml" Id="R7106a5bcddc241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e341499c75493b" /><Relationship Type="http://schemas.openxmlformats.org/officeDocument/2006/relationships/notesMaster" Target="/ppt/notesMasters/notesMaster1.xml" Id="R3d44130a5fe547c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21bb226460644ee" /><Relationship Type="http://schemas.openxmlformats.org/officeDocument/2006/relationships/notesMaster" Target="/ppt/notesMasters/notesMaster1.xml" Id="Ra16bfa4b8e7b4a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support a SULO modelling discussion. Present the competing commitments before recommending the named reference pattern. The examples use Manchester syntax throughout. The recommendation reflects a preference for separate identifiers and a single domain class hierarchy.</a:t>
            </a:r>
          </a:p>
          <a:p xmlns:a="http://schemas.openxmlformats.org/drawingml/2006/main">
            <a:r>
              <a:t/>
            </a:r>
          </a:p>
          <a:p xmlns:a="http://schemas.openxmlformats.org/drawingml/2006/main">
            <a:r>
              <a:t>Sources</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Stefan Schulz. 2026_SULO_TypeSpecification.pptx, supplied in this discussion. Final TYSP formulation: slide 12. Earlier inverse-reference formulation: slides 6-11.</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patient example. No stroke for the bearer is a weaker condition than no strokes anywhere in a model. Our deliberately strong empty-class test asks whether the reference pattern can tolerate the latter without losing the risk or its positive reference. It is a logical stress test, not a claim that strokes do not occur in the world. Increased status requires an application-specific comparator.</a:t>
            </a:r>
          </a:p>
          <a:p xmlns:a="http://schemas.openxmlformats.org/drawingml/2006/main">
            <a:r>
              <a:t/>
            </a:r>
          </a:p>
          <a:p xmlns:a="http://schemas.openxmlformats.org/drawingml/2006/main">
            <a:r>
              <a:t>Sources</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POWERS paper identifies a shared modelling problem across realizable and informational entities. These examples do not establish identical metaphysical categories for all sources. The requirement is that source existence should not force a target process merely through the generic-reference encoding. For the last example, a function may remain unexercised.</a:t>
            </a:r>
          </a:p>
          <a:p xmlns:a="http://schemas.openxmlformats.org/drawingml/2006/main">
            <a:r>
              <a:t/>
            </a:r>
          </a:p>
          <a:p xmlns:a="http://schemas.openxmlformats.org/drawingml/2006/main">
            <a:r>
              <a:t>Sources</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positive generic-reference pattern can require a source and reference object while permitting the target class to have an empty extension. OWL existential restrictions range over model elements, which need not be named. A named-individual query cannot establish the nonexistence of an existential witness.</a:t>
            </a:r>
          </a:p>
          <a:p xmlns:a="http://schemas.openxmlformats.org/drawingml/2006/main">
            <a:r>
              <a:t/>
            </a:r>
          </a:p>
          <a:p xmlns:a="http://schemas.openxmlformats.org/drawingml/2006/main">
            <a:r>
              <a:t>Sources</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engineering criteria drawn from the discussion, rather than a claim that OWL fully formalizes reference or intensions. Target identification is distinct from constraining the members of an extension. Minimal vocabulary is an explicit design preference. Direct-instance classification is optional because broad aboutness may be too weak to license it.</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Stefan Schulz. 2026_SULO_TypeSpecification.pptx, supplied in this discussion. Final TYSP formulation: slide 12. Earlier inverse-reference formulation: slides 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expression is direct reference to some Stroke. In the second, the outer existential requires a collection and the inner existential requires a Stroke member. Neither expression says that x itself undergoes the stroke. The issue is global target-instance existence. These are schematic right-hand sides of IncreasedRiskOfStroke definitions.</a:t>
            </a:r>
          </a:p>
          <a:p xmlns:a="http://schemas.openxmlformats.org/drawingml/2006/main">
            <a:r>
              <a:t/>
            </a:r>
          </a:p>
          <a:p xmlns:a="http://schemas.openxmlformats.org/drawingml/2006/main">
            <a:r>
              <a:t>Sources</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TYSP formulation on slide 12, where extendsTo is a separate relation. Earlier slides use isReferredToBy and need a separate analysis of its intended inverse meaning and domain effects. TypeSpecification gives the reference object a more explicit information-object interpretation. The existential commitment remains. One stroke exemplar does not establish that the specification identifies precisely Stroke: a broader specification can contain strokes and other events. An exemplar-based specification is legitimate where actual exemplars are intended, but is a stronger requirement than generic reference to an uninstantiated target.</a:t>
            </a:r>
          </a:p>
          <a:p xmlns:a="http://schemas.openxmlformats.org/drawingml/2006/main">
            <a:r>
              <a:t/>
            </a:r>
          </a:p>
          <a:p xmlns:a="http://schemas.openxmlformats.org/drawingml/2006/main">
            <a:r>
              <a:t>Sources</a:t>
            </a:r>
          </a:p>
          <a:p xmlns:a="http://schemas.openxmlformats.org/drawingml/2006/main">
            <a:r>
              <a:t>Stefan Schulz. 2026_SULO_TypeSpecification.pptx, supplied in this discussion. Final TYSP formulation: slide 12. Earlier inverse-reference formulation: slides 6-11.</a:t>
            </a:r>
          </a:p>
          <a:p xmlns:a="http://schemas.openxmlformats.org/drawingml/2006/main">
            <a:r>
              <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Stroke equivalent to owl:Nothing, no collection can satisfy hasItem some Stroke. The entire filler is empty. A universal refersTo restriction to that filler can hold only when there are no reference successors. The ontology can remain consistent with the risk instance, but the pattern loses positive reference. Adding a reference edge yields an inconsistent ontology.</a:t>
            </a:r>
          </a:p>
          <a:p xmlns:a="http://schemas.openxmlformats.org/drawingml/2006/main">
            <a:r>
              <a:t/>
            </a:r>
          </a:p>
          <a:p xmlns:a="http://schemas.openxmlformats.org/drawingml/2006/main">
            <a:r>
              <a:t>Sources</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outer some ensures a reference object. The inner only does not require members. If Stroke is empty, the reference collection must be empty. An empty collection also satisfies hasItem only Fracture. The sufficient definition of IncreasedRiskOfFracture therefore classifies the same increased risk when the same source category is used. With both targets explicitly empty, the two source classes become equivalent. This is the vacuity result proved in the draft and exercised in pattern 05.</a:t>
            </a:r>
          </a:p>
          <a:p xmlns:a="http://schemas.openxmlformats.org/drawingml/2006/main">
            <a:r>
              <a:t/>
            </a:r>
          </a:p>
          <a:p xmlns:a="http://schemas.openxmlformats.org/drawingml/2006/main">
            <a:r>
              <a:t>Sources</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StrokeCollection is primitive: it has necessary conditions, rather than being equivalent to all collections with only stroke members. Its asserted or existentially required type records the target commitment. Empty membership does not entail membership in FractureCollection. This works technically, but adds target-specific collection categories. A parallel hierarchy is optional, not entailed by the pattern; reproducing target inheritance requires explicit category mappings. The current design preference is to avoid that duplicated vocabulary.</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individual strokeReference is a collection information object. Stroke remains exclusively a process class. With hasItem inverse isItemIn, the equivalence makes the collection items exactly the class instances, without requiring any members. The example uses Process as an entailed superclass; the playground also places Stroke under VascularEvent. Separate names alone do not make two reference objects distinct: the examples assert DifferentIndividuals where intended. No collection-extensionality axiom is assumed. This is an engineering bridge to class extension, not a complete theory of intensional identity.</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OWL 2 DL permits the same IRI to name a class and an individual, but their interpretations are independent. The exact membership bridge must still be stated. The individual facet is a collection, not a Stroke process. The example pack sets the class facet to owl:Nothing and remains consistent. Punning removes an additional identifier, not the reference individual or bridge. The recommendation uses separate IRIs because it makes these commitments visible.</a:t>
            </a:r>
          </a:p>
          <a:p xmlns:a="http://schemas.openxmlformats.org/drawingml/2006/main">
            <a:r>
              <a:t/>
            </a:r>
          </a:p>
          <a:p xmlns:a="http://schemas.openxmlformats.org/drawingml/2006/main">
            <a:r>
              <a:t>Sources</a:t>
            </a:r>
          </a:p>
          <a:p xmlns:a="http://schemas.openxmlformats.org/drawingml/2006/main">
            <a:r>
              <a:t>W3C. OWL 2 Primer, second edition, 2012, section 9. Class and individual facets of a punned IRI are independently interpreted under Direct Semantics. https://www.w3.org/TR/owl2-primer/#OWL_2_DL_and_OWL_2_Full</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empty-target column asks whether positive reference can coexist with an instantiated source while the target class is empty. The closed universal pattern can preserve the source only without reference edges, hence No in this column. All assessments assume a compatible background. The named variants require explicit target objects and bridges. The primitive pattern requires target-specific classes, with hierarchy mappings only if desired. Punning is optional and does not provide an automatic class-individual bridge.</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Stefan Schulz. 2026_SULO_TypeSpecification.pptx, supplied in this discussion. Final TYSP formulation: slide 12. Earlier inverse-reference formulation: slides 6-11.</a:t>
            </a:r>
          </a:p>
          <a:p xmlns:a="http://schemas.openxmlformats.org/drawingml/2006/main">
            <a:r>
              <a:t/>
            </a:r>
          </a:p>
          <a:p xmlns:a="http://schemas.openxmlformats.org/drawingml/2006/main">
            <a:r>
              <a:t>W3C. OWL 2 Direct Semantics, second edition, 2012. Table 4 (class expressions) and Table 6 (property axioms). https://www.w3.org/TR/owl2-direct-semantics/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are from the newly generated playground, not the original manuscript reproducibility run of 78 checks. The current pack contains 20 self-contained .owl files and 20 .omn counterparts. Each format receives 100 checks. The total of 200 includes consistency, class satisfiability, class/property assertions and nonentailments. Eight expected-inconsistent checks are the four negative-control examples in each format. All returned the predicted outcome. This is semantic regression evidence for the supplied modules, not a performance benchmark or validation under arbitrary imports.</a:t>
            </a:r>
          </a:p>
          <a:p xmlns:a="http://schemas.openxmlformats.org/drawingml/2006/main">
            <a:r>
              <a:t/>
            </a:r>
          </a:p>
          <a:p xmlns:a="http://schemas.openxmlformats.org/drawingml/2006/main">
            <a:r>
              <a:t>Sources</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a:p xmlns:a="http://schemas.openxmlformats.org/drawingml/2006/main">
            <a:r>
              <a:t/>
            </a:r>
          </a:p>
          <a:p xmlns:a="http://schemas.openxmlformats.org/drawingml/2006/main">
            <a:r>
              <a:t>On-slide result context: These rows summarize separate modules and controls, not simultaneous assertions in one ontology. Direct process, existential collection and existential TYSP assert a stroke-risk source and force Stroke empty. The named-empty experiment asserts risk1 as IncreasedRisk with refersTo strokeReference and infers IncreasedRiskOfStroke, HasReference, an unsatisfiable Stroke class and a satisfiable risk class. Closed universal asserts the stroke-risk class with an empty Stroke target and entails not HasReference. Adding a positive reference in its separate negative control is inconsistent. Inline universal uses sufficient definitions for stroke and fracture risk with empty target classes and entails the cross-target classification. With Stroke empty, its universal membership filler is empty and satisfies only Fracture even if Stroke and Fracture are disjoint. The 138 entailment checks include expected nonentailments. Counts are 100 checks per serialization.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remains a Quality. The quantity probability1 is a separate InformationObject with hasValue 30.0 and hasPart percent. Thirty percent is illustrative absolute risk, not a 30 percent increase. A meaningful assessment requires a horizon, assessment time, conditioning information, evidence and an increased-risk comparator. Under the participation interpretation adopted in this discussion, an actual stroke having the risk quality as participant constitutes its realization in that process. The participation/feature chain also infers the bearer x participates. Membership in the reference collection alone entails none of these participation facts. Binary participation does not encode a temporal interval.</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 0.2.14 snapshot, modified 19 May 2026, retained in the example pack with SHA-256 433c83980ff2c37f241f8150d5525b84caeed9fa87825ff30341716c93c25a5e. Source: https://raw.githubusercontent.com/AIDAVA-DEV/sulo/refs/heads/main/versions/latest/sulo.ttl</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Left: an auxiliary named class expresses the GCI IncreasedRisk and refersTo some Stroke SubClassOf IncreasedRiskOfStroke. Because the target class is equivalent to reference to strokeReference, this bridge also entails a reference edge to that object. A disjunctive alternative can permit direct-reference classification without requiring the same specification witness and is not generally equivalent to the GCI plus the original definition. Right: target subclassing does not automatically propagate named reference edges. The pack offers a bridge for unqualified RiskOfStroke and RiskOfVascularEvent. Do not propagate increased qualifiers or numerical probabilities without a justified assessment context.</a:t>
            </a:r>
          </a:p>
          <a:p xmlns:a="http://schemas.openxmlformats.org/drawingml/2006/main">
            <a:r>
              <a:t/>
            </a:r>
          </a:p>
          <a:p xmlns:a="http://schemas.openxmlformats.org/drawingml/2006/main">
            <a:r>
              <a:t>Sources</a:t>
            </a:r>
          </a:p>
          <a:p xmlns:a="http://schemas.openxmlformats.org/drawingml/2006/main">
            <a:r>
              <a:t>Stefan Schulz. 2026_SULO_TypeSpecification.pptx, supplied in this discussion. Final TYSP formulation: slide 12. Earlier inverse-reference formulation: slides 6-11.</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SULO 0.2.14 snapshot restricts refersTo to InformationObject and the inverse range to InformationObject. Since Quality and InformationObject are disjoint, a risk Quality cannot use the property under those constraints. The example module replaces both constraints with Feature. Merely adding a second domain would retain the old classification and the contradiction. This is an explicit proposal and experimental module change, not an assertion that the released ontology already supports quality-level reference. The full universal and inverse-bridge patterns are OWL DL patterns; OWL EL supports existential approximations but excludes only restrictions and inverse-property axioms. Empty-target compatibility supplies no modal, temporal or probabilistic semantics.</a:t>
            </a:r>
          </a:p>
          <a:p xmlns:a="http://schemas.openxmlformats.org/drawingml/2006/main">
            <a:r>
              <a:t/>
            </a:r>
          </a:p>
          <a:p xmlns:a="http://schemas.openxmlformats.org/drawingml/2006/main">
            <a:r>
              <a:t>Sources</a:t>
            </a:r>
          </a:p>
          <a:p xmlns:a="http://schemas.openxmlformats.org/drawingml/2006/main">
            <a:r>
              <a:t>SULO 0.2.14 snapshot, modified 19 May 2026, retained in the example pack with SHA-256 433c83980ff2c37f241f8150d5525b84caeed9fa87825ff30341716c93c25a5e. Source: https://raw.githubusercontent.com/AIDAVA-DEV/sulo/refs/heads/main/versions/latest/sulo.ttl</a:t>
            </a:r>
          </a:p>
          <a:p xmlns:a="http://schemas.openxmlformats.org/drawingml/2006/main">
            <a:r>
              <a:t/>
            </a:r>
          </a:p>
          <a:p xmlns:a="http://schemas.openxmlformats.org/drawingml/2006/main">
            <a:r>
              <a:t>W3C. OWL 2 Profiles, second edition, 2012, section 2. OWL 2 EL permits reflexive object properties but excludes universal restrictions and inverse-property axioms. https://www.w3.org/TR/owl2-profiles/</a:t>
            </a:r>
          </a:p>
          <a:p xmlns:a="http://schemas.openxmlformats.org/drawingml/2006/main">
            <a:r>
              <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the separately named object pattern where positive generic reference to a potentially uninstantiated target is required. Keep the domain class hierarchy as the sole target taxonomy. Use the generic Collection category and a target-specific individual with an exact extension bridge. Type specification can explain the object informally without introducing a mirrored specification class hierarchy. Punning remains an optional naming variant, not a requirement. Additional reference inheritance and direct-instance classification rules should be deliberate. Remaining commitment: one proxy individual and bridge per referenced target, no uniqueness or extensionality by default, and target/intensional identity maintained through modelling practice.</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a:p xmlns:a="http://schemas.openxmlformats.org/drawingml/2006/main">
            <a:r>
              <a:t/>
            </a:r>
          </a:p>
          <a:p xmlns:a="http://schemas.openxmlformats.org/drawingml/2006/main">
            <a:r>
              <a:t>Concrete proposed pattern: a generic Collection individual strokeReference, a domain class Stroke equivalent to isItemIn value strokeReference, and IncreasedRiskOfStroke equivalent to IncreasedRisk and refersTo value strokeReference. hasItem and isItemIn must be inverses. Assert risk1 as IncreasedRisk with refersTo strokeReference; HermiT infers IncreasedRiskOfStroke. No stroke member is required, and adding Stroke EquivalentTo owl:Nothing remains consistent. The collection individual exists; the target process need not. This uses separate IRIs, no punning and no mirrored collection-class hierarchy. Background requirement: apply the feature-level refersTo domain and inverse-range replacement shown on slide 17; preserve IncreasedRisk as a Quality. The bridge determines actual membership, not a full intensional semantics or uniqueness of reference objects. Optional direct-instance and hierarchy bridges remain additional policies, as described on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SULO-Reference-Playground.zip pack. Open each example separately; never import or merge all alternatives, which intentionally reuse entity names with different axioms. Start HermiT or synchronize after edits. The starter has no named stroke episode, but its Stroke class is satisfiable. The empty-target experiment explicitly makes Stroke unsatisfiable while leaving the risk class satisfiable and instantiated. The membership case does not infer participation. The participation case does. The optional GCI experiments can be used after these steps to show why direct-reference classification is an extra rule. Files in expected-inconsistent are intentional negative controls.</a:t>
            </a:r>
          </a:p>
          <a:p xmlns:a="http://schemas.openxmlformats.org/drawingml/2006/main">
            <a:r>
              <a:t/>
            </a:r>
          </a:p>
          <a:p xmlns:a="http://schemas.openxmlformats.org/drawingml/2006/main">
            <a:r>
              <a:t>Sources</a:t>
            </a:r>
          </a:p>
          <a:p xmlns:a="http://schemas.openxmlformats.org/drawingml/2006/main">
            <a:r>
              <a:t>SULO-Reference-Playground.zip, generated 15 October 2026. hermit-results.json and checks.json: 20 standalone example files in RDF/XML and 20 Manchester counterparts. HermiT 1.3.8.1099: 200/200 expected outcomes, comprising 40 consistency, 138 entailment/nonentailment and 22 satisfiability checks. These are 100 checks per serialization, not 200 independent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is deliberately an engineering account of generic reference. Distinct descriptions can have equal extensions, and OWL does not supply intensional identity, reference stability across ontology changes, possibility or probability semantics. The named object pattern exposes rather than eliminates this modelling responsibility. The decision about a core reference-domain change versus a separate pattern module should be made explicitly. No action to change the SULO release is implied by this deck.</a:t>
            </a:r>
          </a:p>
          <a:p xmlns:a="http://schemas.openxmlformats.org/drawingml/2006/main">
            <a:r>
              <a:t/>
            </a:r>
          </a:p>
          <a:p xmlns:a="http://schemas.openxmlformats.org/drawingml/2006/main">
            <a:r>
              <a:t>Sources</a:t>
            </a:r>
          </a:p>
          <a:p xmlns:a="http://schemas.openxmlformats.org/drawingml/2006/main">
            <a:r>
              <a:t>Generic Reference without Target Instantiation: A Manchester Syntax Refinement of the POWERS Proposal. Working draft 11 October 2026, prepared in this discussion. Seven propositions and prose proofs.</a:t>
            </a:r>
          </a:p>
          <a:p xmlns:a="http://schemas.openxmlformats.org/drawingml/2006/main">
            <a:r>
              <a:t/>
            </a:r>
          </a:p>
          <a:p xmlns:a="http://schemas.openxmlformats.org/drawingml/2006/main">
            <a:r>
              <a:t>Schulz S, Dumontier M, Celebi R, Serafimova K, Martinez Costa C. Toward a Unified Framework for Realizable Entities: Dispositions, Plans, and Beyond. POWERS 2025, CEUR vol. 4176 (published 2026). https://ceur-ws.org/Vol-4176/power-1.pdf</a:t>
            </a:r>
          </a:p>
          <a:p xmlns:a="http://schemas.openxmlformats.org/drawingml/2006/main">
            <a:r>
              <a:t/>
            </a:r>
          </a:p>
          <a:p xmlns:a="http://schemas.openxmlformats.org/drawingml/2006/main">
            <a:r>
              <a:t>Stefan Schulz. 2026_SULO_TypeSpecification.pptx, supplied in this discussion. Final TYSP formulation: slide 12. Earlier inverse-reference formulation: slides 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7a37d30cfd4a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e2f5ca0e6a42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059d00f6504c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c194a9db964f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eb314db53c41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2e5c06676b45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1A9E4-B554-466B-83D5-54D956198A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0FAA01-15AF-4C29-9932-FEC2688942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FEA50E-619F-4EE3-949E-333CEB5378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40A18-9065-41A0-ABD2-53C216FE95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F38250-174C-4588-A570-00A21B7AEF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9C465A-424B-49F3-BAFA-B66777950A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98A295-9575-4044-91B6-B8A2009A85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398BBA-57A6-432F-AA56-F1DBDBDA6E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410AA1-872D-4C98-9BB0-FCCC6CF5D7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8640D8-A0C6-4755-A15B-08F1059940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1526176c45499f" /><Relationship Type="http://schemas.openxmlformats.org/officeDocument/2006/relationships/slideLayout" Target="/ppt/slideLayouts/slideLayout1.xml" Id="Ra4a731da6ee64c60" /><Relationship Type="http://schemas.openxmlformats.org/officeDocument/2006/relationships/slideLayout" Target="/ppt/slideLayouts/slideLayout2.xml" Id="R679e3e4eef224a07" /><Relationship Type="http://schemas.openxmlformats.org/officeDocument/2006/relationships/slideLayout" Target="/ppt/slideLayouts/slideLayout3.xml" Id="Rc4b9d38b2f154580" /><Relationship Type="http://schemas.openxmlformats.org/officeDocument/2006/relationships/slideLayout" Target="/ppt/slideLayouts/slideLayout4.xml" Id="R41c6b71248294103" /><Relationship Type="http://schemas.openxmlformats.org/officeDocument/2006/relationships/slideLayout" Target="/ppt/slideLayouts/slideLayout5.xml" Id="Rf5e1c5a315674430" /><Relationship Type="http://schemas.openxmlformats.org/officeDocument/2006/relationships/slideLayout" Target="/ppt/slideLayouts/slideLayout6.xml" Id="Ra1630975eb3644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a731da6ee64c60"/>
    <p:sldLayoutId xmlns:r="http://schemas.openxmlformats.org/officeDocument/2006/relationships" id="2147483650" r:id="R679e3e4eef224a07"/>
    <p:sldLayoutId xmlns:r="http://schemas.openxmlformats.org/officeDocument/2006/relationships" id="2147483651" r:id="Rc4b9d38b2f154580"/>
    <p:sldLayoutId xmlns:r="http://schemas.openxmlformats.org/officeDocument/2006/relationships" id="2147483652" r:id="R41c6b71248294103"/>
    <p:sldLayoutId xmlns:r="http://schemas.openxmlformats.org/officeDocument/2006/relationships" id="2147483653" r:id="Rf5e1c5a315674430"/>
    <p:sldLayoutId xmlns:r="http://schemas.openxmlformats.org/officeDocument/2006/relationships" id="2147483654" r:id="Ra1630975eb3644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9563e789bf42b4" /><Relationship Type="http://schemas.openxmlformats.org/officeDocument/2006/relationships/notesSlide" Target="/ppt/notesSlides/notesSlide1.xml" Id="R8f4b29a1cd3f46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8859aac53240fc" /><Relationship Type="http://schemas.openxmlformats.org/officeDocument/2006/relationships/notesSlide" Target="/ppt/notesSlides/notesSlide2.xml" Id="R338dba78310e4c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64a6a2ea954262" /><Relationship Type="http://schemas.openxmlformats.org/officeDocument/2006/relationships/notesSlide" Target="/ppt/notesSlides/notesSlide3.xml" Id="R734083d679514f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2d47bdefcd4666" /><Relationship Type="http://schemas.openxmlformats.org/officeDocument/2006/relationships/notesSlide" Target="/ppt/notesSlides/notesSlide4.xml" Id="R81e80acf5c2840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a7fd26cf2d47e1" /><Relationship Type="http://schemas.openxmlformats.org/officeDocument/2006/relationships/notesSlide" Target="/ppt/notesSlides/notesSlide5.xml" Id="Raae1a19f8ac94d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9ce643ab2e42cb" /><Relationship Type="http://schemas.openxmlformats.org/officeDocument/2006/relationships/notesSlide" Target="/ppt/notesSlides/notesSlide6.xml" Id="Rbc1dcb3240d5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8cb730e3a84bd4" /><Relationship Type="http://schemas.openxmlformats.org/officeDocument/2006/relationships/notesSlide" Target="/ppt/notesSlides/notesSlide7.xml" Id="R024c527134e84a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a19c5237154ada" /><Relationship Type="http://schemas.openxmlformats.org/officeDocument/2006/relationships/notesSlide" Target="/ppt/notesSlides/notesSlide8.xml" Id="R4d483e99600b4f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b96c3d630a4fe5" /><Relationship Type="http://schemas.openxmlformats.org/officeDocument/2006/relationships/notesSlide" Target="/ppt/notesSlides/notesSlide9.xml" Id="R1ade34e5d1a54b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e8cc94a9af465b" /><Relationship Type="http://schemas.openxmlformats.org/officeDocument/2006/relationships/notesSlide" Target="/ppt/notesSlides/notesSlide10.xml" Id="R2e5857ba39254c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fa5adc55154ad3" /><Relationship Type="http://schemas.openxmlformats.org/officeDocument/2006/relationships/notesSlide" Target="/ppt/notesSlides/notesSlide11.xml" Id="Rfc08353442f240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b9d4ece9dc844b9" /><Relationship Type="http://schemas.openxmlformats.org/officeDocument/2006/relationships/notesSlide" Target="/ppt/notesSlides/notesSlide12.xml" Id="R431c7ed71cf64f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a21d1bfb7d1405f" /><Relationship Type="http://schemas.openxmlformats.org/officeDocument/2006/relationships/notesSlide" Target="/ppt/notesSlides/notesSlide13.xml" Id="R1a2e8058d9b345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80e05acb4641f4" /><Relationship Type="http://schemas.openxmlformats.org/officeDocument/2006/relationships/notesSlide" Target="/ppt/notesSlides/notesSlide14.xml" Id="R2e244ebaf7d649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bf309d653a34e41" /><Relationship Type="http://schemas.openxmlformats.org/officeDocument/2006/relationships/notesSlide" Target="/ppt/notesSlides/notesSlide15.xml" Id="R321518e383bc43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8b8d4cff4994273" /><Relationship Type="http://schemas.openxmlformats.org/officeDocument/2006/relationships/notesSlide" Target="/ppt/notesSlides/notesSlide16.xml" Id="R17706dd7cc6e42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00191fb9c854cb5" /><Relationship Type="http://schemas.openxmlformats.org/officeDocument/2006/relationships/notesSlide" Target="/ppt/notesSlides/notesSlide17.xml" Id="R26573ca4d4f34f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32d48d858b14bdb" /><Relationship Type="http://schemas.openxmlformats.org/officeDocument/2006/relationships/notesSlide" Target="/ppt/notesSlides/notesSlide18.xml" Id="R17713f176875432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cd0a0cc6b94fc2" /><Relationship Type="http://schemas.openxmlformats.org/officeDocument/2006/relationships/notesSlide" Target="/ppt/notesSlides/notesSlide19.xml" Id="R7aed7444d9314cf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884113e4c8493e" /><Relationship Type="http://schemas.openxmlformats.org/officeDocument/2006/relationships/notesSlide" Target="/ppt/notesSlides/notesSlide20.xml" Id="R5cc6a8a6e23d4054" /></Relationships>
</file>

<file path=ppt/slides/slide1.xml><?xml version="1.0" encoding="utf-8"?>
<p:sld xmlns:p="http://schemas.openxmlformats.org/presentationml/2006/main">
  <p:cSld>
    <p:bg>
      <p:bgPr>
        <a:solidFill xmlns:a="http://schemas.openxmlformats.org/drawingml/2006/main">
          <a:srgbClr val="112E3B"/>
        </a:solidFill>
      </p:bgPr>
    </p:bg>
    <p:spTree>
      <p:nvGrpSpPr>
        <p:cNvPr id="1" name=""/>
        <p:cNvGrpSpPr/>
        <p:nvPr/>
      </p:nvGrpSpPr>
      <p:grpSpPr>
        <a:xfrm xmlns:a="http://schemas.openxmlformats.org/drawingml/2006/main"/>
      </p:grpSpPr>
      <p:sp>
        <p:nvSpPr>
          <p:cNvPr id="5" name="slide-number">
            <a:extLst xmlns:a="http://schemas.openxmlformats.org/drawingml/2006/main">
              <a:ext uri="{FF2B5EF4-FFF2-40B4-BE49-F238E27FC236}">
                <a16:creationId xmlns:a16="http://schemas.microsoft.com/office/drawing/2014/main" id="{3D2B2135-890C-46AF-BFFC-6C8E4129317A}"/>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AFC8CF"/>
                </a:solidFill>
                <a:latin typeface="DejaVu Sans"/>
                <a:ea typeface="DejaVu Sans"/>
                <a:cs typeface="DejaVu Sans"/>
              </a:defRPr>
            </a:defPPr>
          </a:lstStyle>
          <a:p xmlns:a="http://schemas.openxmlformats.org/drawingml/2006/main">
            <a:pPr algn="r">
              <a:buNone/>
              <a:defRPr sz="1275" b="0">
                <a:solidFill>
                  <a:srgbClr val="AFC8CF"/>
                </a:solidFill>
                <a:latin typeface="DejaVu Sans"/>
                <a:ea typeface="DejaVu Sans"/>
                <a:cs typeface="DejaVu Sans"/>
              </a:defRPr>
            </a:pPr>
            <a:r>
              <a:rPr sz="1275" b="0">
                <a:solidFill>
                  <a:srgbClr val="AFC8CF"/>
                </a:solidFill>
                <a:latin typeface="DejaVu Sans"/>
                <a:ea typeface="DejaVu Sans"/>
                <a:cs typeface="DejaVu Sans"/>
              </a:rPr>
              <a:t>1</a:t>
            </a:r>
          </a:p>
        </p:txBody>
      </p:sp>
      <p:sp>
        <p:nvSpPr>
          <p:cNvPr id="2" name="cover-title">
            <a:extLst xmlns:a="http://schemas.openxmlformats.org/drawingml/2006/main">
              <a:ext uri="{FF2B5EF4-FFF2-40B4-BE49-F238E27FC236}">
                <a16:creationId xmlns:a16="http://schemas.microsoft.com/office/drawing/2014/main" id="{78314737-273D-449E-B461-E3F4E7588C32}"/>
              </a:ext>
            </a:extLst>
          </p:cNvPr>
          <p:cNvSpPr>
            <a:spLocks xmlns:a="http://schemas.openxmlformats.org/drawingml/2006/main" noGrp="1"/>
          </p:cNvSpPr>
          <p:nvPr/>
        </p:nvSpPr>
        <p:spPr>
          <a:xfrm xmlns:a="http://schemas.openxmlformats.org/drawingml/2006/main">
            <a:off x="609600" y="1409700"/>
            <a:ext cx="10763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DejaVu Sans"/>
                <a:ea typeface="DejaVu Sans"/>
                <a:cs typeface="DejaVu Sans"/>
              </a:defRPr>
            </a:defPPr>
          </a:lstStyle>
          <a:p xmlns:a="http://schemas.openxmlformats.org/drawingml/2006/main">
            <a:pPr algn="l">
              <a:buNone/>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Generic reference</a:t>
            </a:r>
          </a:p>
          <a:p xmlns:a="http://schemas.openxmlformats.org/drawingml/2006/main">
            <a:pPr algn="l">
              <a:buNone/>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in SULO</a:t>
            </a:r>
          </a:p>
        </p:txBody>
      </p:sp>
      <p:sp>
        <p:nvSpPr>
          <p:cNvPr id="3" name="cover-subtitle">
            <a:extLst xmlns:a="http://schemas.openxmlformats.org/drawingml/2006/main">
              <a:ext uri="{FF2B5EF4-FFF2-40B4-BE49-F238E27FC236}">
                <a16:creationId xmlns:a16="http://schemas.microsoft.com/office/drawing/2014/main" id="{D2ED1078-FC58-4956-A142-39B6ADD050B2}"/>
              </a:ext>
            </a:extLst>
          </p:cNvPr>
          <p:cNvSpPr>
            <a:spLocks xmlns:a="http://schemas.openxmlformats.org/drawingml/2006/main" noGrp="1"/>
          </p:cNvSpPr>
          <p:nvPr/>
        </p:nvSpPr>
        <p:spPr>
          <a:xfrm xmlns:a="http://schemas.openxmlformats.org/drawingml/2006/main">
            <a:off x="647700" y="3876675"/>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B7DAD9"/>
                </a:solidFill>
                <a:latin typeface="DejaVu Sans"/>
                <a:ea typeface="DejaVu Sans"/>
                <a:cs typeface="DejaVu Sans"/>
              </a:defRPr>
            </a:defPPr>
          </a:lstStyle>
          <a:p xmlns:a="http://schemas.openxmlformats.org/drawingml/2006/main">
            <a:pPr algn="l">
              <a:buNone/>
              <a:defRPr sz="2400" b="0">
                <a:solidFill>
                  <a:srgbClr val="B7DAD9"/>
                </a:solidFill>
                <a:latin typeface="DejaVu Sans"/>
                <a:ea typeface="DejaVu Sans"/>
                <a:cs typeface="DejaVu Sans"/>
              </a:defRPr>
            </a:pPr>
            <a:r>
              <a:rPr sz="2400" b="0">
                <a:solidFill>
                  <a:srgbClr val="B7DAD9"/>
                </a:solidFill>
                <a:latin typeface="DejaVu Sans"/>
                <a:ea typeface="DejaVu Sans"/>
                <a:cs typeface="DejaVu Sans"/>
              </a:rPr>
              <a:t>Uninstantiated targets, OWL patterns and a proposed refinement</a:t>
            </a:r>
          </a:p>
        </p:txBody>
      </p:sp>
      <p:sp>
        <p:nvSpPr>
          <p:cNvPr id="4" name="cover-author">
            <a:extLst xmlns:a="http://schemas.openxmlformats.org/drawingml/2006/main">
              <a:ext uri="{FF2B5EF4-FFF2-40B4-BE49-F238E27FC236}">
                <a16:creationId xmlns:a16="http://schemas.microsoft.com/office/drawing/2014/main" id="{87312A05-3D1F-4F5C-AE71-DC8C7CEFB45B}"/>
              </a:ext>
            </a:extLst>
          </p:cNvPr>
          <p:cNvSpPr>
            <a:spLocks xmlns:a="http://schemas.openxmlformats.org/drawingml/2006/main" noGrp="1"/>
          </p:cNvSpPr>
          <p:nvPr/>
        </p:nvSpPr>
        <p:spPr>
          <a:xfrm xmlns:a="http://schemas.openxmlformats.org/drawingml/2006/main">
            <a:off x="647700" y="5553075"/>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DejaVu Sans"/>
                <a:ea typeface="DejaVu Sans"/>
                <a:cs typeface="DejaVu Sans"/>
              </a:defRPr>
            </a:defPPr>
          </a:lstStyle>
          <a:p xmlns:a="http://schemas.openxmlformats.org/drawingml/2006/main">
            <a:pPr algn="l">
              <a:buNone/>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Michel Dumontier</a:t>
            </a:r>
          </a:p>
          <a:p xmlns:a="http://schemas.openxmlformats.org/drawingml/2006/main">
            <a:pPr algn="l">
              <a:buNone/>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SULO discussion, 15 October 2026</a:t>
            </a:r>
          </a:p>
        </p:txBody>
      </p:sp>
    </p:spTree>
    <p:extLst>
      <p:ext uri="{BB962C8B-B14F-4D97-AF65-F5344CB8AC3E}">
        <p14:creationId xmlns:p14="http://schemas.microsoft.com/office/powerpoint/2010/main" val="550731958"/>
      </p:ext>
    </p:extLst>
  </p:cSld>
</p:sld>
</file>

<file path=ppt/slides/slide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D8B6DC5-CBCE-4FE4-8393-C0958D31C4B0}"/>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The modelling question</a:t>
            </a:r>
          </a:p>
        </p:txBody>
      </p:sp>
      <p:sp>
        <p:nvSpPr>
          <p:cNvPr id="2" name="slide-number">
            <a:extLst xmlns:a="http://schemas.openxmlformats.org/drawingml/2006/main">
              <a:ext uri="{FF2B5EF4-FFF2-40B4-BE49-F238E27FC236}">
                <a16:creationId xmlns:a16="http://schemas.microsoft.com/office/drawing/2014/main" id="{324BBEA2-8A76-4500-BB25-25AA78DBBE78}"/>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2</a:t>
            </a:r>
          </a:p>
        </p:txBody>
      </p:sp>
      <p:sp>
        <p:nvSpPr>
          <p:cNvPr id="3" name="question">
            <a:extLst xmlns:a="http://schemas.openxmlformats.org/drawingml/2006/main">
              <a:ext uri="{FF2B5EF4-FFF2-40B4-BE49-F238E27FC236}">
                <a16:creationId xmlns:a16="http://schemas.microsoft.com/office/drawing/2014/main" id="{725EA0F2-B4C1-4B2C-9C04-20A87736F423}"/>
              </a:ext>
            </a:extLst>
          </p:cNvPr>
          <p:cNvSpPr>
            <a:spLocks xmlns:a="http://schemas.openxmlformats.org/drawingml/2006/main" noGrp="1"/>
          </p:cNvSpPr>
          <p:nvPr/>
        </p:nvSpPr>
        <p:spPr>
          <a:xfrm xmlns:a="http://schemas.openxmlformats.org/drawingml/2006/main">
            <a:off x="609600" y="1676400"/>
            <a:ext cx="107632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72D3B"/>
                </a:solidFill>
                <a:latin typeface="DejaVu Sans"/>
                <a:ea typeface="DejaVu Sans"/>
                <a:cs typeface="DejaVu Sans"/>
              </a:defRPr>
            </a:defPPr>
          </a:lstStyle>
          <a:p xmlns:a="http://schemas.openxmlformats.org/drawingml/2006/main">
            <a:pPr algn="l">
              <a:buNone/>
              <a:defRPr sz="3450" b="1">
                <a:solidFill>
                  <a:srgbClr val="172D3B"/>
                </a:solidFill>
                <a:latin typeface="DejaVu Sans"/>
                <a:ea typeface="DejaVu Sans"/>
                <a:cs typeface="DejaVu Sans"/>
              </a:defRPr>
            </a:pPr>
            <a:r>
              <a:rPr sz="3450" b="1">
                <a:solidFill>
                  <a:srgbClr val="172D3B"/>
                </a:solidFill>
                <a:latin typeface="DejaVu Sans"/>
                <a:ea typeface="DejaVu Sans"/>
                <a:cs typeface="DejaVu Sans"/>
              </a:rPr>
              <a:t>How can x have an increased risk of stroke</a:t>
            </a:r>
          </a:p>
          <a:p xmlns:a="http://schemas.openxmlformats.org/drawingml/2006/main">
            <a:pPr algn="l">
              <a:buNone/>
              <a:defRPr sz="3450" b="1">
                <a:solidFill>
                  <a:srgbClr val="172D3B"/>
                </a:solidFill>
                <a:latin typeface="DejaVu Sans"/>
                <a:ea typeface="DejaVu Sans"/>
                <a:cs typeface="DejaVu Sans"/>
              </a:defRPr>
            </a:pPr>
            <a:r>
              <a:rPr sz="3450" b="1">
                <a:solidFill>
                  <a:srgbClr val="172D3B"/>
                </a:solidFill>
                <a:latin typeface="DejaVu Sans"/>
                <a:ea typeface="DejaVu Sans"/>
                <a:cs typeface="DejaVu Sans"/>
              </a:rPr>
              <a:t>without a stroke occurring?</a:t>
            </a:r>
          </a:p>
        </p:txBody>
      </p:sp>
      <p:sp>
        <p:nvSpPr>
          <p:cNvPr id="4" name="stronger-test">
            <a:extLst xmlns:a="http://schemas.openxmlformats.org/drawingml/2006/main">
              <a:ext uri="{FF2B5EF4-FFF2-40B4-BE49-F238E27FC236}">
                <a16:creationId xmlns:a16="http://schemas.microsoft.com/office/drawing/2014/main" id="{912578D1-B64F-4F53-B575-5C6D142BD4B2}"/>
              </a:ext>
            </a:extLst>
          </p:cNvPr>
          <p:cNvSpPr>
            <a:spLocks xmlns:a="http://schemas.openxmlformats.org/drawingml/2006/main" noGrp="1"/>
          </p:cNvSpPr>
          <p:nvPr/>
        </p:nvSpPr>
        <p:spPr>
          <a:xfrm xmlns:a="http://schemas.openxmlformats.org/drawingml/2006/main">
            <a:off x="609600" y="385762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6C70"/>
                </a:solidFill>
                <a:latin typeface="DejaVu Sans"/>
                <a:ea typeface="DejaVu Sans"/>
                <a:cs typeface="DejaVu Sans"/>
              </a:defRPr>
            </a:defPPr>
          </a:lstStyle>
          <a:p xmlns:a="http://schemas.openxmlformats.org/drawingml/2006/main">
            <a:pPr algn="l">
              <a:buNone/>
              <a:defRPr sz="2025" b="1">
                <a:solidFill>
                  <a:srgbClr val="006C70"/>
                </a:solidFill>
                <a:latin typeface="DejaVu Sans"/>
                <a:ea typeface="DejaVu Sans"/>
                <a:cs typeface="DejaVu Sans"/>
              </a:defRPr>
            </a:pPr>
            <a:r>
              <a:rPr sz="2025" b="1">
                <a:solidFill>
                  <a:srgbClr val="006C70"/>
                </a:solidFill>
                <a:latin typeface="DejaVu Sans"/>
                <a:ea typeface="DejaVu Sans"/>
                <a:cs typeface="DejaVu Sans"/>
              </a:rPr>
              <a:t>Stronger formal test</a:t>
            </a:r>
          </a:p>
        </p:txBody>
      </p:sp>
      <p:sp>
        <p:nvSpPr>
          <p:cNvPr id="5" name="empty-class">
            <a:extLst xmlns:a="http://schemas.openxmlformats.org/drawingml/2006/main">
              <a:ext uri="{FF2B5EF4-FFF2-40B4-BE49-F238E27FC236}">
                <a16:creationId xmlns:a16="http://schemas.microsoft.com/office/drawing/2014/main" id="{5E2D6A40-B10D-4E35-B2E9-A83D0F7B8814}"/>
              </a:ext>
            </a:extLst>
          </p:cNvPr>
          <p:cNvSpPr>
            <a:spLocks xmlns:a="http://schemas.openxmlformats.org/drawingml/2006/main" noGrp="1"/>
          </p:cNvSpPr>
          <p:nvPr/>
        </p:nvSpPr>
        <p:spPr>
          <a:xfrm xmlns:a="http://schemas.openxmlformats.org/drawingml/2006/main">
            <a:off x="609600" y="443865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006C70"/>
                </a:solidFill>
                <a:latin typeface="DejaVu Sans Mono"/>
                <a:ea typeface="DejaVu Sans Mono"/>
                <a:cs typeface="DejaVu Sans Mono"/>
              </a:defRPr>
            </a:defPPr>
          </a:lstStyle>
          <a:p xmlns:a="http://schemas.openxmlformats.org/drawingml/2006/main">
            <a:pPr algn="l">
              <a:buNone/>
              <a:defRPr sz="2400" b="0">
                <a:solidFill>
                  <a:srgbClr val="006C70"/>
                </a:solidFill>
                <a:latin typeface="DejaVu Sans Mono"/>
                <a:ea typeface="DejaVu Sans Mono"/>
                <a:cs typeface="DejaVu Sans Mono"/>
              </a:defRPr>
            </a:pPr>
            <a:r>
              <a:rPr sz="2400" b="0">
                <a:solidFill>
                  <a:srgbClr val="006C70"/>
                </a:solidFill>
                <a:latin typeface="DejaVu Sans Mono"/>
                <a:ea typeface="DejaVu Sans Mono"/>
                <a:cs typeface="DejaVu Sans Mono"/>
              </a:rPr>
              <a:t>Stroke EquivalentTo owl:Nothing</a:t>
            </a:r>
          </a:p>
        </p:txBody>
      </p:sp>
      <p:sp>
        <p:nvSpPr>
          <p:cNvPr id="6" name="test-requirement">
            <a:extLst xmlns:a="http://schemas.openxmlformats.org/drawingml/2006/main">
              <a:ext uri="{FF2B5EF4-FFF2-40B4-BE49-F238E27FC236}">
                <a16:creationId xmlns:a16="http://schemas.microsoft.com/office/drawing/2014/main" id="{B687D873-ED0A-4426-821E-8682D74745C2}"/>
              </a:ext>
            </a:extLst>
          </p:cNvPr>
          <p:cNvSpPr>
            <a:spLocks xmlns:a="http://schemas.openxmlformats.org/drawingml/2006/main" noGrp="1"/>
          </p:cNvSpPr>
          <p:nvPr/>
        </p:nvSpPr>
        <p:spPr>
          <a:xfrm xmlns:a="http://schemas.openxmlformats.org/drawingml/2006/main">
            <a:off x="609600" y="5286375"/>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2D3B"/>
                </a:solidFill>
                <a:latin typeface="DejaVu Sans"/>
                <a:ea typeface="DejaVu Sans"/>
                <a:cs typeface="DejaVu Sans"/>
              </a:defRPr>
            </a:defPPr>
          </a:lstStyle>
          <a:p xmlns:a="http://schemas.openxmlformats.org/drawingml/2006/main">
            <a:pPr algn="l">
              <a:buNone/>
              <a:defRPr sz="2250" b="0">
                <a:solidFill>
                  <a:srgbClr val="172D3B"/>
                </a:solidFill>
                <a:latin typeface="DejaVu Sans"/>
                <a:ea typeface="DejaVu Sans"/>
                <a:cs typeface="DejaVu Sans"/>
              </a:defRPr>
            </a:pPr>
            <a:r>
              <a:rPr sz="2250" b="0">
                <a:solidFill>
                  <a:srgbClr val="172D3B"/>
                </a:solidFill>
                <a:latin typeface="DejaVu Sans"/>
                <a:ea typeface="DejaVu Sans"/>
                <a:cs typeface="DejaVu Sans"/>
              </a:rPr>
              <a:t>The risk and its positive reference should still be possible.</a:t>
            </a:r>
          </a:p>
        </p:txBody>
      </p:sp>
    </p:spTree>
    <p:extLst>
      <p:ext uri="{BB962C8B-B14F-4D97-AF65-F5344CB8AC3E}">
        <p14:creationId xmlns:p14="http://schemas.microsoft.com/office/powerpoint/2010/main" val="694493461"/>
      </p:ext>
    </p:extLst>
  </p:cSld>
</p:sld>
</file>

<file path=ppt/slides/slide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68578BD-FCAD-48D1-B17B-1F9F03A0B93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Why this matters</a:t>
            </a:r>
          </a:p>
        </p:txBody>
      </p:sp>
      <p:sp>
        <p:nvSpPr>
          <p:cNvPr id="2" name="slide-number">
            <a:extLst xmlns:a="http://schemas.openxmlformats.org/drawingml/2006/main">
              <a:ext uri="{FF2B5EF4-FFF2-40B4-BE49-F238E27FC236}">
                <a16:creationId xmlns:a16="http://schemas.microsoft.com/office/drawing/2014/main" id="{B25B7016-A356-4F77-934F-A0D1AD691B0F}"/>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3</a:t>
            </a:r>
          </a:p>
        </p:txBody>
      </p:sp>
      <p:graphicFrame>
        <p:nvGraphicFramePr>
          <p:cNvPr id="3" name="">
            <a:extLst xmlns:a="http://schemas.openxmlformats.org/drawingml/2006/main">
              <a:ext uri="{FF2B5EF4-FFF2-40B4-BE49-F238E27FC236}">
                <a16:creationId xmlns:a16="http://schemas.microsoft.com/office/drawing/2014/main" id="{82AFD456-075B-46BC-A6B8-9BD334F2D43A}"/>
              </a:ext>
            </a:extLst>
          </p:cNvPr>
          <p:cNvGraphicFramePr/>
          <p:nvPr/>
        </p:nvGraphicFramePr>
        <p:xfrm>
          <a:off xmlns:a="http://schemas.openxmlformats.org/drawingml/2006/main" x="609600" y="1562100"/>
          <a:ext xmlns:a="http://schemas.openxmlformats.org/drawingml/2006/main" cx="10972800" cy="3238500"/>
        </p:xfrm>
        <a:graphic xmlns:a="http://schemas.openxmlformats.org/drawingml/2006/main">
          <a:graphicData uri="http://schemas.openxmlformats.org/drawingml/2006/table">
            <a:tbl>
              <a:tblPr firstRow="0" bandRow="0"/>
              <a:tblGrid>
                <a:gridCol w="2762250"/>
                <a:gridCol w="3333750"/>
                <a:gridCol w="4876800"/>
              </a:tblGrid>
              <a:tr h="609600">
                <a:tc>
                  <a:txBody>
                    <a:bodyPr wrap="square">
                      <a:noAutofit/>
                    </a:bodyPr>
                    <a:lstStyle/>
                    <a:p>
                      <a:r>
                        <a:rPr sz="1800" b="1">
                          <a:solidFill>
                            <a:srgbClr val="FFFFFF"/>
                          </a:solidFill>
                          <a:latin typeface="DejaVu Sans"/>
                          <a:ea typeface="DejaVu Sans"/>
                          <a:cs typeface="DejaVu Sans"/>
                        </a:rPr>
                        <a:t>Source</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Intended target</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What should remain possible</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876300">
                <a:tc>
                  <a:txBody>
                    <a:bodyPr wrap="square">
                      <a:noAutofit/>
                    </a:bodyPr>
                    <a:lstStyle/>
                    <a:p>
                      <a:r>
                        <a:rPr sz="1950" b="0">
                          <a:solidFill>
                            <a:srgbClr val="172D3B"/>
                          </a:solidFill>
                          <a:latin typeface="DejaVu Sans"/>
                          <a:ea typeface="DejaVu Sans"/>
                          <a:cs typeface="DejaVu Sans"/>
                        </a:rPr>
                        <a:t>Risk quality</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950" b="0">
                          <a:solidFill>
                            <a:srgbClr val="172D3B"/>
                          </a:solidFill>
                          <a:latin typeface="DejaVu Sans"/>
                          <a:ea typeface="DejaVu Sans"/>
                          <a:cs typeface="DejaVu Sans"/>
                        </a:rPr>
                        <a:t>Stroke process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950" b="0">
                          <a:solidFill>
                            <a:srgbClr val="172D3B"/>
                          </a:solidFill>
                          <a:latin typeface="DejaVu Sans"/>
                          <a:ea typeface="DejaVu Sans"/>
                          <a:cs typeface="DejaVu Sans"/>
                        </a:rPr>
                        <a:t>Risk without a stroke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876300">
                <a:tc>
                  <a:txBody>
                    <a:bodyPr wrap="square">
                      <a:noAutofit/>
                    </a:bodyPr>
                    <a:lstStyle/>
                    <a:p>
                      <a:r>
                        <a:rPr sz="1950" b="0">
                          <a:solidFill>
                            <a:srgbClr val="172D3B"/>
                          </a:solidFill>
                          <a:latin typeface="DejaVu Sans"/>
                          <a:ea typeface="DejaVu Sans"/>
                          <a:cs typeface="DejaVu Sans"/>
                        </a:rPr>
                        <a:t>Procedure plan</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950" b="0">
                          <a:solidFill>
                            <a:srgbClr val="172D3B"/>
                          </a:solidFill>
                          <a:latin typeface="DejaVu Sans"/>
                          <a:ea typeface="DejaVu Sans"/>
                          <a:cs typeface="DejaVu Sans"/>
                        </a:rPr>
                        <a:t>Whole-brain transplant</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950" b="0">
                          <a:solidFill>
                            <a:srgbClr val="172D3B"/>
                          </a:solidFill>
                          <a:latin typeface="DejaVu Sans"/>
                          <a:ea typeface="DejaVu Sans"/>
                          <a:cs typeface="DejaVu Sans"/>
                        </a:rPr>
                        <a:t>Plan without a performed procedure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876300">
                <a:tc>
                  <a:txBody>
                    <a:bodyPr wrap="square">
                      <a:noAutofit/>
                    </a:bodyPr>
                    <a:lstStyle/>
                    <a:p>
                      <a:r>
                        <a:rPr sz="1950" b="0">
                          <a:solidFill>
                            <a:srgbClr val="172D3B"/>
                          </a:solidFill>
                          <a:latin typeface="DejaVu Sans"/>
                          <a:ea typeface="DejaVu Sans"/>
                          <a:cs typeface="DejaVu Sans"/>
                        </a:rPr>
                        <a:t>Function</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950" b="0">
                          <a:solidFill>
                            <a:srgbClr val="172D3B"/>
                          </a:solidFill>
                          <a:latin typeface="DejaVu Sans"/>
                          <a:ea typeface="DejaVu Sans"/>
                          <a:cs typeface="DejaVu Sans"/>
                        </a:rPr>
                        <a:t>Its exercise in a process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950" b="0">
                          <a:solidFill>
                            <a:srgbClr val="172D3B"/>
                          </a:solidFill>
                          <a:latin typeface="DejaVu Sans"/>
                          <a:ea typeface="DejaVu Sans"/>
                          <a:cs typeface="DejaVu Sans"/>
                        </a:rPr>
                        <a:t>Function without exercise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bl>
          </a:graphicData>
        </a:graphic>
      </p:graphicFrame>
      <p:sp>
        <p:nvSpPr>
          <p:cNvPr id="4" name="significance-claim">
            <a:extLst xmlns:a="http://schemas.openxmlformats.org/drawingml/2006/main">
              <a:ext uri="{FF2B5EF4-FFF2-40B4-BE49-F238E27FC236}">
                <a16:creationId xmlns:a16="http://schemas.microsoft.com/office/drawing/2014/main" id="{C76D0597-F918-4146-8974-ED5742A2EC93}"/>
              </a:ext>
            </a:extLst>
          </p:cNvPr>
          <p:cNvSpPr>
            <a:spLocks xmlns:a="http://schemas.openxmlformats.org/drawingml/2006/main" noGrp="1"/>
          </p:cNvSpPr>
          <p:nvPr/>
        </p:nvSpPr>
        <p:spPr>
          <a:xfrm xmlns:a="http://schemas.openxmlformats.org/drawingml/2006/main">
            <a:off x="609600" y="5381625"/>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006C70"/>
                </a:solidFill>
                <a:latin typeface="DejaVu Sans"/>
                <a:ea typeface="DejaVu Sans"/>
                <a:cs typeface="DejaVu Sans"/>
              </a:defRPr>
            </a:defPPr>
          </a:lstStyle>
          <a:p xmlns:a="http://schemas.openxmlformats.org/drawingml/2006/main">
            <a:pPr algn="l">
              <a:buNone/>
              <a:defRPr sz="2550" b="1">
                <a:solidFill>
                  <a:srgbClr val="006C70"/>
                </a:solidFill>
                <a:latin typeface="DejaVu Sans"/>
                <a:ea typeface="DejaVu Sans"/>
                <a:cs typeface="DejaVu Sans"/>
              </a:defRPr>
            </a:pPr>
            <a:r>
              <a:rPr sz="2550" b="1">
                <a:solidFill>
                  <a:srgbClr val="006C70"/>
                </a:solidFill>
                <a:latin typeface="DejaVu Sans"/>
                <a:ea typeface="DejaVu Sans"/>
                <a:cs typeface="DejaVu Sans"/>
              </a:rPr>
              <a:t>Generic reference affects what an ontology says exists.</a:t>
            </a:r>
          </a:p>
        </p:txBody>
      </p:sp>
    </p:spTree>
    <p:extLst>
      <p:ext uri="{BB962C8B-B14F-4D97-AF65-F5344CB8AC3E}">
        <p14:creationId xmlns:p14="http://schemas.microsoft.com/office/powerpoint/2010/main" val="1705565655"/>
      </p:ext>
    </p:extLst>
  </p:cSld>
</p:sld>
</file>

<file path=ppt/slides/slide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0A30424-9DE1-42B0-9A09-2F9DA1715313}"/>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Three existence commitments</a:t>
            </a:r>
          </a:p>
        </p:txBody>
      </p:sp>
      <p:sp>
        <p:nvSpPr>
          <p:cNvPr id="2" name="slide-number">
            <a:extLst xmlns:a="http://schemas.openxmlformats.org/drawingml/2006/main">
              <a:ext uri="{FF2B5EF4-FFF2-40B4-BE49-F238E27FC236}">
                <a16:creationId xmlns:a16="http://schemas.microsoft.com/office/drawing/2014/main" id="{18F5318F-7CE2-4F4F-9544-6CE1B67FA034}"/>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4</a:t>
            </a:r>
          </a:p>
        </p:txBody>
      </p:sp>
      <p:graphicFrame>
        <p:nvGraphicFramePr>
          <p:cNvPr id="3" name="">
            <a:extLst xmlns:a="http://schemas.openxmlformats.org/drawingml/2006/main">
              <a:ext uri="{FF2B5EF4-FFF2-40B4-BE49-F238E27FC236}">
                <a16:creationId xmlns:a16="http://schemas.microsoft.com/office/drawing/2014/main" id="{54E20757-4CE8-4ED5-8D49-212CD28E1049}"/>
              </a:ext>
            </a:extLst>
          </p:cNvPr>
          <p:cNvGraphicFramePr/>
          <p:nvPr/>
        </p:nvGraphicFramePr>
        <p:xfrm>
          <a:off xmlns:a="http://schemas.openxmlformats.org/drawingml/2006/main" x="609600" y="1562100"/>
          <a:ext xmlns:a="http://schemas.openxmlformats.org/drawingml/2006/main" cx="10972800" cy="2914650"/>
        </p:xfrm>
        <a:graphic xmlns:a="http://schemas.openxmlformats.org/drawingml/2006/main">
          <a:graphicData uri="http://schemas.openxmlformats.org/drawingml/2006/table">
            <a:tbl>
              <a:tblPr firstRow="0" bandRow="0"/>
              <a:tblGrid>
                <a:gridCol w="3714750"/>
                <a:gridCol w="7258050"/>
              </a:tblGrid>
              <a:tr h="628650">
                <a:tc>
                  <a:txBody>
                    <a:bodyPr wrap="square">
                      <a:noAutofit/>
                    </a:bodyPr>
                    <a:lstStyle/>
                    <a:p>
                      <a:r>
                        <a:rPr sz="1800" b="1">
                          <a:solidFill>
                            <a:srgbClr val="FFFFFF"/>
                          </a:solidFill>
                          <a:latin typeface="DejaVu Sans"/>
                          <a:ea typeface="DejaVu Sans"/>
                          <a:cs typeface="DejaVu Sans"/>
                        </a:rPr>
                        <a:t>Entity</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Commitment for a mediated risk assertion</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762000">
                <a:tc>
                  <a:txBody>
                    <a:bodyPr wrap="square">
                      <a:noAutofit/>
                    </a:bodyPr>
                    <a:lstStyle/>
                    <a:p>
                      <a:r>
                        <a:rPr sz="2100" b="0">
                          <a:solidFill>
                            <a:srgbClr val="172D3B"/>
                          </a:solidFill>
                          <a:latin typeface="DejaVu Sans"/>
                          <a:ea typeface="DejaVu Sans"/>
                          <a:cs typeface="DejaVu Sans"/>
                        </a:rPr>
                        <a:t>Risk quality</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2100" b="0">
                          <a:solidFill>
                            <a:srgbClr val="172D3B"/>
                          </a:solidFill>
                          <a:latin typeface="DejaVu Sans"/>
                          <a:ea typeface="DejaVu Sans"/>
                          <a:cs typeface="DejaVu Sans"/>
                        </a:rPr>
                        <a:t>Must exist</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762000">
                <a:tc>
                  <a:txBody>
                    <a:bodyPr wrap="square">
                      <a:noAutofit/>
                    </a:bodyPr>
                    <a:lstStyle/>
                    <a:p>
                      <a:r>
                        <a:rPr sz="2100" b="0">
                          <a:solidFill>
                            <a:srgbClr val="172D3B"/>
                          </a:solidFill>
                          <a:latin typeface="DejaVu Sans"/>
                          <a:ea typeface="DejaVu Sans"/>
                          <a:cs typeface="DejaVu Sans"/>
                        </a:rPr>
                        <a:t>Reference object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2100" b="0">
                          <a:solidFill>
                            <a:srgbClr val="172D3B"/>
                          </a:solidFill>
                          <a:latin typeface="DejaVu Sans"/>
                          <a:ea typeface="DejaVu Sans"/>
                          <a:cs typeface="DejaVu Sans"/>
                        </a:rPr>
                        <a:t>Must exist</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762000">
                <a:tc>
                  <a:txBody>
                    <a:bodyPr wrap="square">
                      <a:noAutofit/>
                    </a:bodyPr>
                    <a:lstStyle/>
                    <a:p>
                      <a:r>
                        <a:rPr sz="2100" b="0">
                          <a:solidFill>
                            <a:srgbClr val="172D3B"/>
                          </a:solidFill>
                          <a:latin typeface="DejaVu Sans"/>
                          <a:ea typeface="DejaVu Sans"/>
                          <a:cs typeface="DejaVu Sans"/>
                        </a:rPr>
                        <a:t>Stroke process</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2100" b="0">
                          <a:solidFill>
                            <a:srgbClr val="172D3B"/>
                          </a:solidFill>
                          <a:latin typeface="DejaVu Sans"/>
                          <a:ea typeface="DejaVu Sans"/>
                          <a:cs typeface="DejaVu Sans"/>
                        </a:rPr>
                        <a:t>May have no instances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bl>
          </a:graphicData>
        </a:graphic>
      </p:graphicFrame>
      <p:sp>
        <p:nvSpPr>
          <p:cNvPr id="4" name="unnamed-witness">
            <a:extLst xmlns:a="http://schemas.openxmlformats.org/drawingml/2006/main">
              <a:ext uri="{FF2B5EF4-FFF2-40B4-BE49-F238E27FC236}">
                <a16:creationId xmlns:a16="http://schemas.microsoft.com/office/drawing/2014/main" id="{A0868BC6-845F-42E9-9AF6-AE944BD7BE43}"/>
              </a:ext>
            </a:extLst>
          </p:cNvPr>
          <p:cNvSpPr>
            <a:spLocks xmlns:a="http://schemas.openxmlformats.org/drawingml/2006/main" noGrp="1"/>
          </p:cNvSpPr>
          <p:nvPr/>
        </p:nvSpPr>
        <p:spPr>
          <a:xfrm xmlns:a="http://schemas.openxmlformats.org/drawingml/2006/main">
            <a:off x="609600" y="523875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A3422E"/>
                </a:solidFill>
                <a:latin typeface="DejaVu Sans"/>
                <a:ea typeface="DejaVu Sans"/>
                <a:cs typeface="DejaVu Sans"/>
              </a:defRPr>
            </a:defPPr>
          </a:lstStyle>
          <a:p xmlns:a="http://schemas.openxmlformats.org/drawingml/2006/main">
            <a:pPr algn="l">
              <a:buNone/>
              <a:defRPr sz="2325" b="1">
                <a:solidFill>
                  <a:srgbClr val="A3422E"/>
                </a:solidFill>
                <a:latin typeface="DejaVu Sans"/>
                <a:ea typeface="DejaVu Sans"/>
                <a:cs typeface="DejaVu Sans"/>
              </a:defRPr>
            </a:pPr>
            <a:r>
              <a:rPr sz="2325" b="1">
                <a:solidFill>
                  <a:srgbClr val="A3422E"/>
                </a:solidFill>
                <a:latin typeface="DejaVu Sans"/>
                <a:ea typeface="DejaVu Sans"/>
                <a:cs typeface="DejaVu Sans"/>
              </a:rPr>
              <a:t>A missing individual name does not establish nonexistence.</a:t>
            </a:r>
          </a:p>
        </p:txBody>
      </p:sp>
    </p:spTree>
    <p:extLst>
      <p:ext uri="{BB962C8B-B14F-4D97-AF65-F5344CB8AC3E}">
        <p14:creationId xmlns:p14="http://schemas.microsoft.com/office/powerpoint/2010/main" val="1749805384"/>
      </p:ext>
    </p:extLst>
  </p:cSld>
</p:sld>
</file>

<file path=ppt/slides/slide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D2DAEF8A-B34C-4760-BFC2-88C02F80DCA6}"/>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Assessment criteria</a:t>
            </a:r>
          </a:p>
        </p:txBody>
      </p:sp>
      <p:sp>
        <p:nvSpPr>
          <p:cNvPr id="2" name="slide-number">
            <a:extLst xmlns:a="http://schemas.openxmlformats.org/drawingml/2006/main">
              <a:ext uri="{FF2B5EF4-FFF2-40B4-BE49-F238E27FC236}">
                <a16:creationId xmlns:a16="http://schemas.microsoft.com/office/drawing/2014/main" id="{6BC2AFC9-CB1E-4E84-B648-FE36B0D479B1}"/>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5</a:t>
            </a:r>
          </a:p>
        </p:txBody>
      </p:sp>
      <p:graphicFrame>
        <p:nvGraphicFramePr>
          <p:cNvPr id="3" name="">
            <a:extLst xmlns:a="http://schemas.openxmlformats.org/drawingml/2006/main">
              <a:ext uri="{FF2B5EF4-FFF2-40B4-BE49-F238E27FC236}">
                <a16:creationId xmlns:a16="http://schemas.microsoft.com/office/drawing/2014/main" id="{AEF30EB9-F134-408E-A19B-5F1644B065B2}"/>
              </a:ext>
            </a:extLst>
          </p:cNvPr>
          <p:cNvGraphicFramePr/>
          <p:nvPr/>
        </p:nvGraphicFramePr>
        <p:xfrm>
          <a:off xmlns:a="http://schemas.openxmlformats.org/drawingml/2006/main" x="609600" y="1562100"/>
          <a:ext xmlns:a="http://schemas.openxmlformats.org/drawingml/2006/main" cx="10972800" cy="4248150"/>
        </p:xfrm>
        <a:graphic xmlns:a="http://schemas.openxmlformats.org/drawingml/2006/main">
          <a:graphicData uri="http://schemas.openxmlformats.org/drawingml/2006/table">
            <a:tbl>
              <a:tblPr firstRow="0" bandRow="0"/>
              <a:tblGrid>
                <a:gridCol w="3333750"/>
                <a:gridCol w="7639050"/>
              </a:tblGrid>
              <a:tr h="533400">
                <a:tc>
                  <a:txBody>
                    <a:bodyPr wrap="square">
                      <a:noAutofit/>
                    </a:bodyPr>
                    <a:lstStyle/>
                    <a:p>
                      <a:r>
                        <a:rPr sz="1800" b="1">
                          <a:solidFill>
                            <a:srgbClr val="FFFFFF"/>
                          </a:solidFill>
                          <a:latin typeface="DejaVu Sans"/>
                          <a:ea typeface="DejaVu Sans"/>
                          <a:cs typeface="DejaVu Sans"/>
                        </a:rPr>
                        <a:t>Criterion</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Question</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742950">
                <a:tc>
                  <a:txBody>
                    <a:bodyPr wrap="square">
                      <a:noAutofit/>
                    </a:bodyPr>
                    <a:lstStyle/>
                    <a:p>
                      <a:r>
                        <a:rPr sz="1875" b="0">
                          <a:solidFill>
                            <a:srgbClr val="172D3B"/>
                          </a:solidFill>
                          <a:latin typeface="DejaVu Sans"/>
                          <a:ea typeface="DejaVu Sans"/>
                          <a:cs typeface="DejaVu Sans"/>
                        </a:rPr>
                        <a:t>Positive reference</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Does an asserted source have a referent?</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742950">
                <a:tc>
                  <a:txBody>
                    <a:bodyPr wrap="square">
                      <a:noAutofit/>
                    </a:bodyPr>
                    <a:lstStyle/>
                    <a:p>
                      <a:r>
                        <a:rPr sz="1875" b="0">
                          <a:solidFill>
                            <a:srgbClr val="172D3B"/>
                          </a:solidFill>
                          <a:latin typeface="DejaVu Sans"/>
                          <a:ea typeface="DejaVu Sans"/>
                          <a:cs typeface="DejaVu Sans"/>
                        </a:rPr>
                        <a:t>Empty-target compatibility</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Can the target class have no instances?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742950">
                <a:tc>
                  <a:txBody>
                    <a:bodyPr wrap="square">
                      <a:noAutofit/>
                    </a:bodyPr>
                    <a:lstStyle/>
                    <a:p>
                      <a:r>
                        <a:rPr sz="1875" b="0">
                          <a:solidFill>
                            <a:srgbClr val="172D3B"/>
                          </a:solidFill>
                          <a:latin typeface="DejaVu Sans"/>
                          <a:ea typeface="DejaVu Sans"/>
                          <a:cs typeface="DejaVu Sans"/>
                        </a:rPr>
                        <a:t>Target identification</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What fixes the intended type when it is empty?</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742950">
                <a:tc>
                  <a:txBody>
                    <a:bodyPr wrap="square">
                      <a:noAutofit/>
                    </a:bodyPr>
                    <a:lstStyle/>
                    <a:p>
                      <a:r>
                        <a:rPr sz="1875" b="0">
                          <a:solidFill>
                            <a:srgbClr val="172D3B"/>
                          </a:solidFill>
                          <a:latin typeface="DejaVu Sans"/>
                          <a:ea typeface="DejaVu Sans"/>
                          <a:cs typeface="DejaVu Sans"/>
                        </a:rPr>
                        <a:t>Modelling cost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Which extra names, classes and bridges are needed?</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742950">
                <a:tc>
                  <a:txBody>
                    <a:bodyPr wrap="square">
                      <a:noAutofit/>
                    </a:bodyPr>
                    <a:lstStyle/>
                    <a:p>
                      <a:r>
                        <a:rPr sz="1875" b="0">
                          <a:solidFill>
                            <a:srgbClr val="172D3B"/>
                          </a:solidFill>
                          <a:latin typeface="DejaVu Sans"/>
                          <a:ea typeface="DejaVu Sans"/>
                          <a:cs typeface="DejaVu Sans"/>
                        </a:rPr>
                        <a:t>Useful classification</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Which inferences should direct instance reference license?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bl>
          </a:graphicData>
        </a:graphic>
      </p:graphicFrame>
    </p:spTree>
    <p:extLst>
      <p:ext uri="{BB962C8B-B14F-4D97-AF65-F5344CB8AC3E}">
        <p14:creationId xmlns:p14="http://schemas.microsoft.com/office/powerpoint/2010/main" val="1542314667"/>
      </p:ext>
    </p:extLst>
  </p:cSld>
</p:sld>
</file>

<file path=ppt/slides/slide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A5FE970-3023-4257-9C05-A17E31EE31D4}"/>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Existential reference patterns</a:t>
            </a:r>
          </a:p>
        </p:txBody>
      </p:sp>
      <p:sp>
        <p:nvSpPr>
          <p:cNvPr id="2" name="slide-number">
            <a:extLst xmlns:a="http://schemas.openxmlformats.org/drawingml/2006/main">
              <a:ext uri="{FF2B5EF4-FFF2-40B4-BE49-F238E27FC236}">
                <a16:creationId xmlns:a16="http://schemas.microsoft.com/office/drawing/2014/main" id="{0A78503B-CAE5-4928-B68F-698C8833890E}"/>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6</a:t>
            </a:r>
          </a:p>
        </p:txBody>
      </p:sp>
      <p:sp>
        <p:nvSpPr>
          <p:cNvPr id="3" name="direct-label">
            <a:extLst xmlns:a="http://schemas.openxmlformats.org/drawingml/2006/main">
              <a:ext uri="{FF2B5EF4-FFF2-40B4-BE49-F238E27FC236}">
                <a16:creationId xmlns:a16="http://schemas.microsoft.com/office/drawing/2014/main" id="{8727949D-D3D0-405B-9260-E05181A3F14C}"/>
              </a:ext>
            </a:extLst>
          </p:cNvPr>
          <p:cNvSpPr>
            <a:spLocks xmlns:a="http://schemas.openxmlformats.org/drawingml/2006/main" noGrp="1"/>
          </p:cNvSpPr>
          <p:nvPr/>
        </p:nvSpPr>
        <p:spPr>
          <a:xfrm xmlns:a="http://schemas.openxmlformats.org/drawingml/2006/main">
            <a:off x="609600" y="15811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D3B"/>
                </a:solidFill>
                <a:latin typeface="DejaVu Sans"/>
                <a:ea typeface="DejaVu Sans"/>
                <a:cs typeface="DejaVu Sans"/>
              </a:defRPr>
            </a:defPPr>
          </a:lstStyle>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Direct process</a:t>
            </a:r>
          </a:p>
        </p:txBody>
      </p:sp>
      <p:sp>
        <p:nvSpPr>
          <p:cNvPr id="4" name="direct-code">
            <a:extLst xmlns:a="http://schemas.openxmlformats.org/drawingml/2006/main">
              <a:ext uri="{FF2B5EF4-FFF2-40B4-BE49-F238E27FC236}">
                <a16:creationId xmlns:a16="http://schemas.microsoft.com/office/drawing/2014/main" id="{C60AC669-5629-4385-96D5-E7067838B0F1}"/>
              </a:ext>
            </a:extLst>
          </p:cNvPr>
          <p:cNvSpPr>
            <a:spLocks xmlns:a="http://schemas.openxmlformats.org/drawingml/2006/main" noGrp="1"/>
          </p:cNvSpPr>
          <p:nvPr/>
        </p:nvSpPr>
        <p:spPr>
          <a:xfrm xmlns:a="http://schemas.openxmlformats.org/drawingml/2006/main">
            <a:off x="609600" y="2143125"/>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6C70"/>
                </a:solidFill>
                <a:latin typeface="DejaVu Sans Mono"/>
                <a:ea typeface="DejaVu Sans Mono"/>
                <a:cs typeface="DejaVu Sans Mono"/>
              </a:defRPr>
            </a:defPPr>
          </a:lstStyle>
          <a:p xmlns:a="http://schemas.openxmlformats.org/drawingml/2006/main">
            <a:pPr algn="l">
              <a:buNone/>
              <a:defRPr sz="2100" b="0">
                <a:solidFill>
                  <a:srgbClr val="006C70"/>
                </a:solidFill>
                <a:latin typeface="DejaVu Sans Mono"/>
                <a:ea typeface="DejaVu Sans Mono"/>
                <a:cs typeface="DejaVu Sans Mono"/>
              </a:defRPr>
            </a:pPr>
            <a:r>
              <a:rPr sz="2100" b="0">
                <a:solidFill>
                  <a:srgbClr val="006C70"/>
                </a:solidFill>
                <a:latin typeface="DejaVu Sans Mono"/>
                <a:ea typeface="DejaVu Sans Mono"/>
                <a:cs typeface="DejaVu Sans Mono"/>
              </a:rPr>
              <a:t>IncreasedRisk and refersTo some Stroke</a:t>
            </a:r>
          </a:p>
        </p:txBody>
      </p:sp>
      <p:sp>
        <p:nvSpPr>
          <p:cNvPr id="5" name="coll-label">
            <a:extLst xmlns:a="http://schemas.openxmlformats.org/drawingml/2006/main">
              <a:ext uri="{FF2B5EF4-FFF2-40B4-BE49-F238E27FC236}">
                <a16:creationId xmlns:a16="http://schemas.microsoft.com/office/drawing/2014/main" id="{F81BE4A6-BA6C-4FFF-AF06-7EBE30A83D69}"/>
              </a:ext>
            </a:extLst>
          </p:cNvPr>
          <p:cNvSpPr>
            <a:spLocks xmlns:a="http://schemas.openxmlformats.org/drawingml/2006/main" noGrp="1"/>
          </p:cNvSpPr>
          <p:nvPr/>
        </p:nvSpPr>
        <p:spPr>
          <a:xfrm xmlns:a="http://schemas.openxmlformats.org/drawingml/2006/main">
            <a:off x="609600" y="32194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D3B"/>
                </a:solidFill>
                <a:latin typeface="DejaVu Sans"/>
                <a:ea typeface="DejaVu Sans"/>
                <a:cs typeface="DejaVu Sans"/>
              </a:defRPr>
            </a:defPPr>
          </a:lstStyle>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Existential collection</a:t>
            </a:r>
          </a:p>
        </p:txBody>
      </p:sp>
      <p:sp>
        <p:nvSpPr>
          <p:cNvPr id="6" name="coll-code">
            <a:extLst xmlns:a="http://schemas.openxmlformats.org/drawingml/2006/main">
              <a:ext uri="{FF2B5EF4-FFF2-40B4-BE49-F238E27FC236}">
                <a16:creationId xmlns:a16="http://schemas.microsoft.com/office/drawing/2014/main" id="{1B8B28B3-A6EA-4128-A67A-E2AA195177D2}"/>
              </a:ext>
            </a:extLst>
          </p:cNvPr>
          <p:cNvSpPr>
            <a:spLocks xmlns:a="http://schemas.openxmlformats.org/drawingml/2006/main" noGrp="1"/>
          </p:cNvSpPr>
          <p:nvPr/>
        </p:nvSpPr>
        <p:spPr>
          <a:xfrm xmlns:a="http://schemas.openxmlformats.org/drawingml/2006/main">
            <a:off x="609600" y="3790950"/>
            <a:ext cx="10763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6C70"/>
                </a:solidFill>
                <a:latin typeface="DejaVu Sans Mono"/>
                <a:ea typeface="DejaVu Sans Mono"/>
                <a:cs typeface="DejaVu Sans Mono"/>
              </a:defRPr>
            </a:defPPr>
          </a:lstStyle>
          <a:p xmlns:a="http://schemas.openxmlformats.org/drawingml/2006/main">
            <a:pPr algn="l">
              <a:buNone/>
              <a:defRPr sz="2100" b="0">
                <a:solidFill>
                  <a:srgbClr val="006C70"/>
                </a:solidFill>
                <a:latin typeface="DejaVu Sans Mono"/>
                <a:ea typeface="DejaVu Sans Mono"/>
                <a:cs typeface="DejaVu Sans Mono"/>
              </a:defRPr>
            </a:pPr>
            <a:r>
              <a:rPr sz="2100" b="0">
                <a:solidFill>
                  <a:srgbClr val="006C70"/>
                </a:solidFill>
                <a:latin typeface="DejaVu Sans Mono"/>
                <a:ea typeface="DejaVu Sans Mono"/>
                <a:cs typeface="DejaVu Sans Mono"/>
              </a:rPr>
              <a:t>IncreasedRisk and refersTo some</a:t>
            </a:r>
          </a:p>
          <a:p xmlns:a="http://schemas.openxmlformats.org/drawingml/2006/main">
            <a:pPr algn="l">
              <a:buNone/>
              <a:defRPr sz="2100" b="0">
                <a:solidFill>
                  <a:srgbClr val="006C70"/>
                </a:solidFill>
                <a:latin typeface="DejaVu Sans Mono"/>
                <a:ea typeface="DejaVu Sans Mono"/>
                <a:cs typeface="DejaVu Sans Mono"/>
              </a:defRPr>
            </a:pPr>
            <a:r>
              <a:rPr sz="2100" b="0">
                <a:solidFill>
                  <a:srgbClr val="006C70"/>
                </a:solidFill>
                <a:latin typeface="DejaVu Sans Mono"/>
                <a:ea typeface="DejaVu Sans Mono"/>
                <a:cs typeface="DejaVu Sans Mono"/>
              </a:rPr>
              <a:t>  (Collection and hasItem some Stroke)</a:t>
            </a:r>
          </a:p>
        </p:txBody>
      </p:sp>
      <p:sp>
        <p:nvSpPr>
          <p:cNvPr id="7" name="existential-result">
            <a:extLst xmlns:a="http://schemas.openxmlformats.org/drawingml/2006/main">
              <a:ext uri="{FF2B5EF4-FFF2-40B4-BE49-F238E27FC236}">
                <a16:creationId xmlns:a16="http://schemas.microsoft.com/office/drawing/2014/main" id="{DD9EB408-D7F9-48FD-B99E-CDD6E06F0A95}"/>
              </a:ext>
            </a:extLst>
          </p:cNvPr>
          <p:cNvSpPr>
            <a:spLocks xmlns:a="http://schemas.openxmlformats.org/drawingml/2006/main" noGrp="1"/>
          </p:cNvSpPr>
          <p:nvPr/>
        </p:nvSpPr>
        <p:spPr>
          <a:xfrm xmlns:a="http://schemas.openxmlformats.org/drawingml/2006/main">
            <a:off x="609600" y="5410200"/>
            <a:ext cx="107632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A3422E"/>
                </a:solidFill>
                <a:latin typeface="DejaVu Sans"/>
                <a:ea typeface="DejaVu Sans"/>
                <a:cs typeface="DejaVu Sans"/>
              </a:defRPr>
            </a:defPPr>
          </a:lstStyle>
          <a:p xmlns:a="http://schemas.openxmlformats.org/drawingml/2006/main">
            <a:pPr algn="l">
              <a:buNone/>
              <a:defRPr sz="2400" b="1">
                <a:solidFill>
                  <a:srgbClr val="A3422E"/>
                </a:solidFill>
                <a:latin typeface="DejaVu Sans"/>
                <a:ea typeface="DejaVu Sans"/>
                <a:cs typeface="DejaVu Sans"/>
              </a:defRPr>
            </a:pPr>
            <a:r>
              <a:rPr sz="2400" b="1">
                <a:solidFill>
                  <a:srgbClr val="A3422E"/>
                </a:solidFill>
                <a:latin typeface="DejaVu Sans"/>
                <a:ea typeface="DejaVu Sans"/>
                <a:cs typeface="DejaVu Sans"/>
              </a:rPr>
              <a:t>An instance of either risk class entails a stroke instance.</a:t>
            </a:r>
          </a:p>
        </p:txBody>
      </p:sp>
    </p:spTree>
    <p:extLst>
      <p:ext uri="{BB962C8B-B14F-4D97-AF65-F5344CB8AC3E}">
        <p14:creationId xmlns:p14="http://schemas.microsoft.com/office/powerpoint/2010/main" val="5857895"/>
      </p:ext>
    </p:extLst>
  </p:cSld>
</p:sld>
</file>

<file path=ppt/slides/slide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0B85466-7FFD-4797-99BB-CB3DE745BC08}"/>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Existential TYSP</a:t>
            </a:r>
          </a:p>
        </p:txBody>
      </p:sp>
      <p:sp>
        <p:nvSpPr>
          <p:cNvPr id="2" name="slide-number">
            <a:extLst xmlns:a="http://schemas.openxmlformats.org/drawingml/2006/main">
              <a:ext uri="{FF2B5EF4-FFF2-40B4-BE49-F238E27FC236}">
                <a16:creationId xmlns:a16="http://schemas.microsoft.com/office/drawing/2014/main" id="{599CF475-91A0-458E-B3E1-DA6B598BB12B}"/>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7</a:t>
            </a:r>
          </a:p>
        </p:txBody>
      </p:sp>
      <p:sp>
        <p:nvSpPr>
          <p:cNvPr id="3" name="tysp-code">
            <a:extLst xmlns:a="http://schemas.openxmlformats.org/drawingml/2006/main">
              <a:ext uri="{FF2B5EF4-FFF2-40B4-BE49-F238E27FC236}">
                <a16:creationId xmlns:a16="http://schemas.microsoft.com/office/drawing/2014/main" id="{243FA849-7491-484E-AAA7-525CF3EB6188}"/>
              </a:ext>
            </a:extLst>
          </p:cNvPr>
          <p:cNvSpPr>
            <a:spLocks xmlns:a="http://schemas.openxmlformats.org/drawingml/2006/main" noGrp="1"/>
          </p:cNvSpPr>
          <p:nvPr/>
        </p:nvSpPr>
        <p:spPr>
          <a:xfrm xmlns:a="http://schemas.openxmlformats.org/drawingml/2006/main">
            <a:off x="609600" y="1638300"/>
            <a:ext cx="10953750" cy="2371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6C70"/>
                </a:solidFill>
                <a:latin typeface="DejaVu Sans Mono"/>
                <a:ea typeface="DejaVu Sans Mono"/>
                <a:cs typeface="DejaVu Sans Mono"/>
              </a:defRPr>
            </a:defPPr>
          </a:lstStyle>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Class: IncreasedRiskOfStroke</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EquivalentTo:</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IncreasedRisk and refersTo some</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(TypeSpecification and</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extendsTo some Stroke)</a:t>
            </a:r>
          </a:p>
        </p:txBody>
      </p:sp>
      <p:sp>
        <p:nvSpPr>
          <p:cNvPr id="4" name="tysp-merit">
            <a:extLst xmlns:a="http://schemas.openxmlformats.org/drawingml/2006/main">
              <a:ext uri="{FF2B5EF4-FFF2-40B4-BE49-F238E27FC236}">
                <a16:creationId xmlns:a16="http://schemas.microsoft.com/office/drawing/2014/main" id="{FAA87514-FE02-4C93-BFBD-1E8968BEE1F0}"/>
              </a:ext>
            </a:extLst>
          </p:cNvPr>
          <p:cNvSpPr>
            <a:spLocks xmlns:a="http://schemas.openxmlformats.org/drawingml/2006/main" noGrp="1"/>
          </p:cNvSpPr>
          <p:nvPr/>
        </p:nvSpPr>
        <p:spPr>
          <a:xfrm xmlns:a="http://schemas.openxmlformats.org/drawingml/2006/main">
            <a:off x="609600" y="4267200"/>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6C70"/>
                </a:solidFill>
                <a:latin typeface="DejaVu Sans"/>
                <a:ea typeface="DejaVu Sans"/>
                <a:cs typeface="DejaVu Sans"/>
              </a:defRPr>
            </a:defPPr>
          </a:lstStyle>
          <a:p xmlns:a="http://schemas.openxmlformats.org/drawingml/2006/main">
            <a:pPr algn="l">
              <a:buNone/>
              <a:defRPr sz="2100" b="1">
                <a:solidFill>
                  <a:srgbClr val="006C70"/>
                </a:solidFill>
                <a:latin typeface="DejaVu Sans"/>
                <a:ea typeface="DejaVu Sans"/>
                <a:cs typeface="DejaVu Sans"/>
              </a:defRPr>
            </a:pPr>
            <a:r>
              <a:rPr sz="2100" b="1">
                <a:solidFill>
                  <a:srgbClr val="006C70"/>
                </a:solidFill>
                <a:latin typeface="DejaVu Sans"/>
                <a:ea typeface="DejaVu Sans"/>
                <a:cs typeface="DejaVu Sans"/>
              </a:rPr>
              <a:t>Clearer interpretation of the intermediary</a:t>
            </a:r>
          </a:p>
        </p:txBody>
      </p:sp>
      <p:sp>
        <p:nvSpPr>
          <p:cNvPr id="5" name="tysp-cost">
            <a:extLst xmlns:a="http://schemas.openxmlformats.org/drawingml/2006/main">
              <a:ext uri="{FF2B5EF4-FFF2-40B4-BE49-F238E27FC236}">
                <a16:creationId xmlns:a16="http://schemas.microsoft.com/office/drawing/2014/main" id="{E0DDEA1A-623A-4F02-9DE3-F1A0444F8D98}"/>
              </a:ext>
            </a:extLst>
          </p:cNvPr>
          <p:cNvSpPr>
            <a:spLocks xmlns:a="http://schemas.openxmlformats.org/drawingml/2006/main" noGrp="1"/>
          </p:cNvSpPr>
          <p:nvPr/>
        </p:nvSpPr>
        <p:spPr>
          <a:xfrm xmlns:a="http://schemas.openxmlformats.org/drawingml/2006/main">
            <a:off x="609600" y="4981575"/>
            <a:ext cx="107632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A3422E"/>
                </a:solidFill>
                <a:latin typeface="DejaVu Sans"/>
                <a:ea typeface="DejaVu Sans"/>
                <a:cs typeface="DejaVu Sans"/>
              </a:defRPr>
            </a:defPPr>
          </a:lstStyle>
          <a:p xmlns:a="http://schemas.openxmlformats.org/drawingml/2006/main">
            <a:pPr algn="l">
              <a:buNone/>
              <a:defRPr sz="2325" b="1">
                <a:solidFill>
                  <a:srgbClr val="A3422E"/>
                </a:solidFill>
                <a:latin typeface="DejaVu Sans"/>
                <a:ea typeface="DejaVu Sans"/>
                <a:cs typeface="DejaVu Sans"/>
              </a:defRPr>
            </a:pPr>
            <a:r>
              <a:rPr sz="2325" b="1">
                <a:solidFill>
                  <a:srgbClr val="A3422E"/>
                </a:solidFill>
                <a:latin typeface="DejaVu Sans"/>
                <a:ea typeface="DejaVu Sans"/>
                <a:cs typeface="DejaVu Sans"/>
              </a:rPr>
              <a:t>The inner some Stroke still requires a stroke instance.</a:t>
            </a:r>
          </a:p>
        </p:txBody>
      </p:sp>
      <p:sp>
        <p:nvSpPr>
          <p:cNvPr id="6" name="tysp-identity">
            <a:extLst xmlns:a="http://schemas.openxmlformats.org/drawingml/2006/main">
              <a:ext uri="{FF2B5EF4-FFF2-40B4-BE49-F238E27FC236}">
                <a16:creationId xmlns:a16="http://schemas.microsoft.com/office/drawing/2014/main" id="{0DD6C933-D65D-4D8D-A40B-B2B43DAE42E2}"/>
              </a:ext>
            </a:extLst>
          </p:cNvPr>
          <p:cNvSpPr>
            <a:spLocks xmlns:a="http://schemas.openxmlformats.org/drawingml/2006/main" noGrp="1"/>
          </p:cNvSpPr>
          <p:nvPr/>
        </p:nvSpPr>
        <p:spPr>
          <a:xfrm xmlns:a="http://schemas.openxmlformats.org/drawingml/2006/main">
            <a:off x="609600" y="585787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buNone/>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A stroke exemplar alone does not fix the intended type.</a:t>
            </a:r>
          </a:p>
        </p:txBody>
      </p:sp>
      <p:sp>
        <p:nvSpPr>
          <p:cNvPr id="8" name="pattern-subtitle">
            <a:extLst xmlns:a="http://schemas.openxmlformats.org/drawingml/2006/main">
              <a:ext uri="{FF2B5EF4-FFF2-40B4-BE49-F238E27FC236}">
                <a16:creationId xmlns:a16="http://schemas.microsoft.com/office/drawing/2014/main" id="{E0D1B3DC-C49A-4CCA-816D-D0ACE6537035}"/>
              </a:ext>
            </a:extLst>
          </p:cNvPr>
          <p:cNvSpPr>
            <a:spLocks xmlns:a="http://schemas.openxmlformats.org/drawingml/2006/main" noGrp="1"/>
          </p:cNvSpPr>
          <p:nvPr/>
        </p:nvSpPr>
        <p:spPr>
          <a:xfrm xmlns:a="http://schemas.openxmlformats.org/drawingml/2006/main">
            <a:off x="609600" y="11811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Stefan’s type specification proposal</a:t>
            </a:r>
          </a:p>
        </p:txBody>
      </p:sp>
    </p:spTree>
    <p:extLst>
      <p:ext uri="{BB962C8B-B14F-4D97-AF65-F5344CB8AC3E}">
        <p14:creationId xmlns:p14="http://schemas.microsoft.com/office/powerpoint/2010/main" val="171277730"/>
      </p:ext>
    </p:extLst>
  </p:cSld>
</p:sld>
</file>

<file path=ppt/slides/slide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949C628-4864-43D5-9549-AEBBFE2104C1}"/>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Closed universal</a:t>
            </a:r>
          </a:p>
        </p:txBody>
      </p:sp>
      <p:sp>
        <p:nvSpPr>
          <p:cNvPr id="2" name="slide-number">
            <a:extLst xmlns:a="http://schemas.openxmlformats.org/drawingml/2006/main">
              <a:ext uri="{FF2B5EF4-FFF2-40B4-BE49-F238E27FC236}">
                <a16:creationId xmlns:a16="http://schemas.microsoft.com/office/drawing/2014/main" id="{3727D404-2D00-4029-A91F-F7647EA59F8E}"/>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8</a:t>
            </a:r>
          </a:p>
        </p:txBody>
      </p:sp>
      <p:sp>
        <p:nvSpPr>
          <p:cNvPr id="3" name="closed-code">
            <a:extLst xmlns:a="http://schemas.openxmlformats.org/drawingml/2006/main">
              <a:ext uri="{FF2B5EF4-FFF2-40B4-BE49-F238E27FC236}">
                <a16:creationId xmlns:a16="http://schemas.microsoft.com/office/drawing/2014/main" id="{45E06C8B-DA83-4CD1-896A-5D2E58F7C4FF}"/>
              </a:ext>
            </a:extLst>
          </p:cNvPr>
          <p:cNvSpPr>
            <a:spLocks xmlns:a="http://schemas.openxmlformats.org/drawingml/2006/main" noGrp="1"/>
          </p:cNvSpPr>
          <p:nvPr/>
        </p:nvSpPr>
        <p:spPr>
          <a:xfrm xmlns:a="http://schemas.openxmlformats.org/drawingml/2006/main">
            <a:off x="609600" y="1552575"/>
            <a:ext cx="1095375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6C70"/>
                </a:solidFill>
                <a:latin typeface="DejaVu Sans Mono"/>
                <a:ea typeface="DejaVu Sans Mono"/>
                <a:cs typeface="DejaVu Sans Mono"/>
              </a:defRPr>
            </a:defPPr>
          </a:lstStyle>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Class: IncreasedRiskOfStroke</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EquivalentTo:</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IncreasedRisk and refersTo only</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(Collection</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and hasItem some Stroke</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and hasItem only Stroke)</a:t>
            </a:r>
          </a:p>
        </p:txBody>
      </p:sp>
      <p:sp>
        <p:nvSpPr>
          <p:cNvPr id="4" name="closed-condition">
            <a:extLst xmlns:a="http://schemas.openxmlformats.org/drawingml/2006/main">
              <a:ext uri="{FF2B5EF4-FFF2-40B4-BE49-F238E27FC236}">
                <a16:creationId xmlns:a16="http://schemas.microsoft.com/office/drawing/2014/main" id="{ABD5D298-EEF5-45DA-B7CB-C9DC13558DC9}"/>
              </a:ext>
            </a:extLst>
          </p:cNvPr>
          <p:cNvSpPr>
            <a:spLocks xmlns:a="http://schemas.openxmlformats.org/drawingml/2006/main" noGrp="1"/>
          </p:cNvSpPr>
          <p:nvPr/>
        </p:nvSpPr>
        <p:spPr>
          <a:xfrm xmlns:a="http://schemas.openxmlformats.org/drawingml/2006/main">
            <a:off x="609600" y="4648200"/>
            <a:ext cx="107632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A3422E"/>
                </a:solidFill>
                <a:latin typeface="DejaVu Sans"/>
                <a:ea typeface="DejaVu Sans"/>
                <a:cs typeface="DejaVu Sans"/>
              </a:defRPr>
            </a:defPPr>
          </a:lstStyle>
          <a:p xmlns:a="http://schemas.openxmlformats.org/drawingml/2006/main">
            <a:pPr algn="l">
              <a:buNone/>
              <a:defRPr sz="2400" b="1">
                <a:solidFill>
                  <a:srgbClr val="A3422E"/>
                </a:solidFill>
                <a:latin typeface="DejaVu Sans"/>
                <a:ea typeface="DejaVu Sans"/>
                <a:cs typeface="DejaVu Sans"/>
              </a:defRPr>
            </a:pPr>
            <a:r>
              <a:rPr sz="2400" b="1">
                <a:solidFill>
                  <a:srgbClr val="A3422E"/>
                </a:solidFill>
                <a:latin typeface="DejaVu Sans"/>
                <a:ea typeface="DejaVu Sans"/>
                <a:cs typeface="DejaVu Sans"/>
              </a:rPr>
              <a:t>If Stroke is empty, risk1 has no reference successors.</a:t>
            </a:r>
          </a:p>
        </p:txBody>
      </p:sp>
      <p:sp>
        <p:nvSpPr>
          <p:cNvPr id="5" name="closed-description">
            <a:extLst xmlns:a="http://schemas.openxmlformats.org/drawingml/2006/main">
              <a:ext uri="{FF2B5EF4-FFF2-40B4-BE49-F238E27FC236}">
                <a16:creationId xmlns:a16="http://schemas.microsoft.com/office/drawing/2014/main" id="{E80A4850-9DAA-4762-B479-7F49B02E38EA}"/>
              </a:ext>
            </a:extLst>
          </p:cNvPr>
          <p:cNvSpPr>
            <a:spLocks xmlns:a="http://schemas.openxmlformats.org/drawingml/2006/main" noGrp="1"/>
          </p:cNvSpPr>
          <p:nvPr/>
        </p:nvSpPr>
        <p:spPr>
          <a:xfrm xmlns:a="http://schemas.openxmlformats.org/drawingml/2006/main">
            <a:off x="609600" y="564832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66673"/>
                </a:solidFill>
                <a:latin typeface="DejaVu Sans"/>
                <a:ea typeface="DejaVu Sans"/>
                <a:cs typeface="DejaVu Sans"/>
              </a:defRPr>
            </a:defPPr>
          </a:lstStyle>
          <a:p xmlns:a="http://schemas.openxmlformats.org/drawingml/2006/main">
            <a:pPr algn="l">
              <a:buNone/>
              <a:defRPr sz="1950" b="0">
                <a:solidFill>
                  <a:srgbClr val="566673"/>
                </a:solidFill>
                <a:latin typeface="DejaVu Sans"/>
                <a:ea typeface="DejaVu Sans"/>
                <a:cs typeface="DejaVu Sans"/>
              </a:defRPr>
            </a:pPr>
            <a:r>
              <a:rPr sz="1950" b="0">
                <a:solidFill>
                  <a:srgbClr val="566673"/>
                </a:solidFill>
                <a:latin typeface="DejaVu Sans"/>
                <a:ea typeface="DejaVu Sans"/>
                <a:cs typeface="DejaVu Sans"/>
              </a:rPr>
              <a:t>The restriction supplies a condition on references that exist.</a:t>
            </a:r>
          </a:p>
        </p:txBody>
      </p:sp>
    </p:spTree>
    <p:extLst>
      <p:ext uri="{BB962C8B-B14F-4D97-AF65-F5344CB8AC3E}">
        <p14:creationId xmlns:p14="http://schemas.microsoft.com/office/powerpoint/2010/main" val="1561381294"/>
      </p:ext>
    </p:extLst>
  </p:cSld>
</p:sld>
</file>

<file path=ppt/slides/slide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2BD395B-EF08-4716-8561-976A33EFC95F}"/>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Inline universal</a:t>
            </a:r>
          </a:p>
        </p:txBody>
      </p:sp>
      <p:sp>
        <p:nvSpPr>
          <p:cNvPr id="2" name="slide-number">
            <a:extLst xmlns:a="http://schemas.openxmlformats.org/drawingml/2006/main">
              <a:ext uri="{FF2B5EF4-FFF2-40B4-BE49-F238E27FC236}">
                <a16:creationId xmlns:a16="http://schemas.microsoft.com/office/drawing/2014/main" id="{A67491CA-EE10-48D6-AAC8-69EC6B0A44F0}"/>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9</a:t>
            </a:r>
          </a:p>
        </p:txBody>
      </p:sp>
      <p:sp>
        <p:nvSpPr>
          <p:cNvPr id="3" name="inline-code">
            <a:extLst xmlns:a="http://schemas.openxmlformats.org/drawingml/2006/main">
              <a:ext uri="{FF2B5EF4-FFF2-40B4-BE49-F238E27FC236}">
                <a16:creationId xmlns:a16="http://schemas.microsoft.com/office/drawing/2014/main" id="{3A552F8B-2541-445A-85F4-85FA3E9EA911}"/>
              </a:ext>
            </a:extLst>
          </p:cNvPr>
          <p:cNvSpPr>
            <a:spLocks xmlns:a="http://schemas.openxmlformats.org/drawingml/2006/main" noGrp="1"/>
          </p:cNvSpPr>
          <p:nvPr/>
        </p:nvSpPr>
        <p:spPr>
          <a:xfrm xmlns:a="http://schemas.openxmlformats.org/drawingml/2006/main">
            <a:off x="609600" y="16859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6C70"/>
                </a:solidFill>
                <a:latin typeface="DejaVu Sans Mono"/>
                <a:ea typeface="DejaVu Sans Mono"/>
                <a:cs typeface="DejaVu Sans Mono"/>
              </a:defRPr>
            </a:defPPr>
          </a:lstStyle>
          <a:p xmlns:a="http://schemas.openxmlformats.org/drawingml/2006/main">
            <a:pPr algn="l">
              <a:buNone/>
              <a:defRPr sz="2175" b="0">
                <a:solidFill>
                  <a:srgbClr val="006C70"/>
                </a:solidFill>
                <a:latin typeface="DejaVu Sans Mono"/>
                <a:ea typeface="DejaVu Sans Mono"/>
                <a:cs typeface="DejaVu Sans Mono"/>
              </a:defRPr>
            </a:pPr>
            <a:r>
              <a:rPr sz="2175" b="0">
                <a:solidFill>
                  <a:srgbClr val="006C70"/>
                </a:solidFill>
                <a:latin typeface="DejaVu Sans Mono"/>
                <a:ea typeface="DejaVu Sans Mono"/>
                <a:cs typeface="DejaVu Sans Mono"/>
              </a:rPr>
              <a:t>IncreasedRisk and refersTo some</a:t>
            </a:r>
          </a:p>
          <a:p xmlns:a="http://schemas.openxmlformats.org/drawingml/2006/main">
            <a:pPr algn="l">
              <a:buNone/>
              <a:defRPr sz="2175" b="0">
                <a:solidFill>
                  <a:srgbClr val="006C70"/>
                </a:solidFill>
                <a:latin typeface="DejaVu Sans Mono"/>
                <a:ea typeface="DejaVu Sans Mono"/>
                <a:cs typeface="DejaVu Sans Mono"/>
              </a:defRPr>
            </a:pPr>
            <a:r>
              <a:rPr sz="2175" b="0">
                <a:solidFill>
                  <a:srgbClr val="006C70"/>
                </a:solidFill>
                <a:latin typeface="DejaVu Sans Mono"/>
                <a:ea typeface="DejaVu Sans Mono"/>
                <a:cs typeface="DejaVu Sans Mono"/>
              </a:rPr>
              <a:t>  (Collection and hasItem only Stroke)</a:t>
            </a:r>
          </a:p>
        </p:txBody>
      </p:sp>
      <p:sp>
        <p:nvSpPr>
          <p:cNvPr id="4" name="vacuity-statement">
            <a:extLst xmlns:a="http://schemas.openxmlformats.org/drawingml/2006/main">
              <a:ext uri="{FF2B5EF4-FFF2-40B4-BE49-F238E27FC236}">
                <a16:creationId xmlns:a16="http://schemas.microsoft.com/office/drawing/2014/main" id="{CDCBD317-732A-4FB7-ACE3-1C78A6EFA93F}"/>
              </a:ext>
            </a:extLst>
          </p:cNvPr>
          <p:cNvSpPr>
            <a:spLocks xmlns:a="http://schemas.openxmlformats.org/drawingml/2006/main" noGrp="1"/>
          </p:cNvSpPr>
          <p:nvPr/>
        </p:nvSpPr>
        <p:spPr>
          <a:xfrm xmlns:a="http://schemas.openxmlformats.org/drawingml/2006/main">
            <a:off x="609600" y="325755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72D3B"/>
                </a:solidFill>
                <a:latin typeface="DejaVu Sans"/>
                <a:ea typeface="DejaVu Sans"/>
                <a:cs typeface="DejaVu Sans"/>
              </a:defRPr>
            </a:defPPr>
          </a:lstStyle>
          <a:p xmlns:a="http://schemas.openxmlformats.org/drawingml/2006/main">
            <a:pPr algn="l">
              <a:buNone/>
              <a:defRPr sz="2250" b="1">
                <a:solidFill>
                  <a:srgbClr val="172D3B"/>
                </a:solidFill>
                <a:latin typeface="DejaVu Sans"/>
                <a:ea typeface="DejaVu Sans"/>
                <a:cs typeface="DejaVu Sans"/>
              </a:defRPr>
            </a:pPr>
            <a:r>
              <a:rPr sz="2250" b="1">
                <a:solidFill>
                  <a:srgbClr val="172D3B"/>
                </a:solidFill>
                <a:latin typeface="DejaVu Sans"/>
                <a:ea typeface="DejaVu Sans"/>
                <a:cs typeface="DejaVu Sans"/>
              </a:rPr>
              <a:t>An empty collection satisfies both restrictions:</a:t>
            </a:r>
          </a:p>
        </p:txBody>
      </p:sp>
      <p:sp>
        <p:nvSpPr>
          <p:cNvPr id="5" name="two-restrictions">
            <a:extLst xmlns:a="http://schemas.openxmlformats.org/drawingml/2006/main">
              <a:ext uri="{FF2B5EF4-FFF2-40B4-BE49-F238E27FC236}">
                <a16:creationId xmlns:a16="http://schemas.microsoft.com/office/drawing/2014/main" id="{F69F4111-1E01-4253-A27F-B7F19CBE639E}"/>
              </a:ext>
            </a:extLst>
          </p:cNvPr>
          <p:cNvSpPr>
            <a:spLocks xmlns:a="http://schemas.openxmlformats.org/drawingml/2006/main" noGrp="1"/>
          </p:cNvSpPr>
          <p:nvPr/>
        </p:nvSpPr>
        <p:spPr>
          <a:xfrm xmlns:a="http://schemas.openxmlformats.org/drawingml/2006/main">
            <a:off x="609600" y="4048125"/>
            <a:ext cx="1066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6C70"/>
                </a:solidFill>
                <a:latin typeface="DejaVu Sans Mono"/>
                <a:ea typeface="DejaVu Sans Mono"/>
                <a:cs typeface="DejaVu Sans Mono"/>
              </a:defRPr>
            </a:defPPr>
          </a:lstStyle>
          <a:p xmlns:a="http://schemas.openxmlformats.org/drawingml/2006/main">
            <a:pPr algn="l">
              <a:buNone/>
              <a:defRPr sz="2250" b="0">
                <a:solidFill>
                  <a:srgbClr val="006C70"/>
                </a:solidFill>
                <a:latin typeface="DejaVu Sans Mono"/>
                <a:ea typeface="DejaVu Sans Mono"/>
                <a:cs typeface="DejaVu Sans Mono"/>
              </a:defRPr>
            </a:pPr>
            <a:r>
              <a:rPr sz="2250" b="0">
                <a:solidFill>
                  <a:srgbClr val="006C70"/>
                </a:solidFill>
                <a:latin typeface="DejaVu Sans Mono"/>
                <a:ea typeface="DejaVu Sans Mono"/>
                <a:cs typeface="DejaVu Sans Mono"/>
              </a:rPr>
              <a:t>hasItem only Stroke</a:t>
            </a:r>
          </a:p>
          <a:p xmlns:a="http://schemas.openxmlformats.org/drawingml/2006/main">
            <a:pPr algn="l">
              <a:buNone/>
              <a:defRPr sz="2250" b="0">
                <a:solidFill>
                  <a:srgbClr val="006C70"/>
                </a:solidFill>
                <a:latin typeface="DejaVu Sans Mono"/>
                <a:ea typeface="DejaVu Sans Mono"/>
                <a:cs typeface="DejaVu Sans Mono"/>
              </a:defRPr>
            </a:pPr>
            <a:r>
              <a:rPr sz="2250" b="0">
                <a:solidFill>
                  <a:srgbClr val="006C70"/>
                </a:solidFill>
                <a:latin typeface="DejaVu Sans Mono"/>
                <a:ea typeface="DejaVu Sans Mono"/>
                <a:cs typeface="DejaVu Sans Mono"/>
              </a:rPr>
              <a:t>hasItem only Fracture</a:t>
            </a:r>
          </a:p>
        </p:txBody>
      </p:sp>
      <p:sp>
        <p:nvSpPr>
          <p:cNvPr id="6" name="vacuity-result">
            <a:extLst xmlns:a="http://schemas.openxmlformats.org/drawingml/2006/main">
              <a:ext uri="{FF2B5EF4-FFF2-40B4-BE49-F238E27FC236}">
                <a16:creationId xmlns:a16="http://schemas.microsoft.com/office/drawing/2014/main" id="{B07DBA50-6C5E-4E2C-A961-21B81A7734A3}"/>
              </a:ext>
            </a:extLst>
          </p:cNvPr>
          <p:cNvSpPr>
            <a:spLocks xmlns:a="http://schemas.openxmlformats.org/drawingml/2006/main" noGrp="1"/>
          </p:cNvSpPr>
          <p:nvPr/>
        </p:nvSpPr>
        <p:spPr>
          <a:xfrm xmlns:a="http://schemas.openxmlformats.org/drawingml/2006/main">
            <a:off x="609600" y="5553075"/>
            <a:ext cx="10858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A3422E"/>
                </a:solidFill>
                <a:latin typeface="DejaVu Sans"/>
                <a:ea typeface="DejaVu Sans"/>
                <a:cs typeface="DejaVu Sans"/>
              </a:defRPr>
            </a:defPPr>
          </a:lstStyle>
          <a:p xmlns:a="http://schemas.openxmlformats.org/drawingml/2006/main">
            <a:pPr algn="l">
              <a:buNone/>
              <a:defRPr sz="2175" b="1">
                <a:solidFill>
                  <a:srgbClr val="A3422E"/>
                </a:solidFill>
                <a:latin typeface="DejaVu Sans"/>
                <a:ea typeface="DejaVu Sans"/>
                <a:cs typeface="DejaVu Sans"/>
              </a:defRPr>
            </a:pPr>
            <a:r>
              <a:rPr sz="2175" b="1">
                <a:solidFill>
                  <a:srgbClr val="A3422E"/>
                </a:solidFill>
                <a:latin typeface="DejaVu Sans"/>
                <a:ea typeface="DejaVu Sans"/>
                <a:cs typeface="DejaVu Sans"/>
              </a:rPr>
              <a:t>Membership closure alone cannot identify the intended target.</a:t>
            </a:r>
          </a:p>
        </p:txBody>
      </p:sp>
      <p:sp>
        <p:nvSpPr>
          <p:cNvPr id="8" name="pattern-subtitle">
            <a:extLst xmlns:a="http://schemas.openxmlformats.org/drawingml/2006/main">
              <a:ext uri="{FF2B5EF4-FFF2-40B4-BE49-F238E27FC236}">
                <a16:creationId xmlns:a16="http://schemas.microsoft.com/office/drawing/2014/main" id="{3911BB07-B05C-41C5-BF3E-A64857727BB0}"/>
              </a:ext>
            </a:extLst>
          </p:cNvPr>
          <p:cNvSpPr>
            <a:spLocks xmlns:a="http://schemas.openxmlformats.org/drawingml/2006/main" noGrp="1"/>
          </p:cNvSpPr>
          <p:nvPr/>
        </p:nvSpPr>
        <p:spPr>
          <a:xfrm xmlns:a="http://schemas.openxmlformats.org/drawingml/2006/main">
            <a:off x="609600" y="11811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Anonymous universal membership</a:t>
            </a:r>
          </a:p>
        </p:txBody>
      </p:sp>
    </p:spTree>
    <p:extLst>
      <p:ext uri="{BB962C8B-B14F-4D97-AF65-F5344CB8AC3E}">
        <p14:creationId xmlns:p14="http://schemas.microsoft.com/office/powerpoint/2010/main" val="1910423373"/>
      </p:ext>
    </p:extLst>
  </p:cSld>
</p:sld>
</file>

<file path=ppt/slides/slide1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7573F78-1B56-4EDF-BBD8-0C9C0058288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Primitive proxy class</a:t>
            </a:r>
          </a:p>
        </p:txBody>
      </p:sp>
      <p:sp>
        <p:nvSpPr>
          <p:cNvPr id="2" name="slide-number">
            <a:extLst xmlns:a="http://schemas.openxmlformats.org/drawingml/2006/main">
              <a:ext uri="{FF2B5EF4-FFF2-40B4-BE49-F238E27FC236}">
                <a16:creationId xmlns:a16="http://schemas.microsoft.com/office/drawing/2014/main" id="{601D94DB-81F8-49A5-BDB7-90CBFCDDE83A}"/>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10</a:t>
            </a:r>
          </a:p>
        </p:txBody>
      </p:sp>
      <p:sp>
        <p:nvSpPr>
          <p:cNvPr id="3" name="primitive-code">
            <a:extLst xmlns:a="http://schemas.openxmlformats.org/drawingml/2006/main">
              <a:ext uri="{FF2B5EF4-FFF2-40B4-BE49-F238E27FC236}">
                <a16:creationId xmlns:a16="http://schemas.microsoft.com/office/drawing/2014/main" id="{FF5F5A56-7339-4AE2-AE93-6ADD75B06C33}"/>
              </a:ext>
            </a:extLst>
          </p:cNvPr>
          <p:cNvSpPr>
            <a:spLocks xmlns:a="http://schemas.openxmlformats.org/drawingml/2006/main" noGrp="1"/>
          </p:cNvSpPr>
          <p:nvPr/>
        </p:nvSpPr>
        <p:spPr>
          <a:xfrm xmlns:a="http://schemas.openxmlformats.org/drawingml/2006/main">
            <a:off x="609600" y="1609725"/>
            <a:ext cx="10953750" cy="3419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6C70"/>
                </a:solidFill>
                <a:latin typeface="DejaVu Sans Mono"/>
                <a:ea typeface="DejaVu Sans Mono"/>
                <a:cs typeface="DejaVu Sans Mono"/>
              </a:defRPr>
            </a:defPPr>
          </a:lstStyle>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Class: StrokeCollection</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SubClassOf:</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Collection, hasItem only Stroke</a:t>
            </a:r>
          </a:p>
          <a:p xmlns:a="http://schemas.openxmlformats.org/drawingml/2006/main">
            <a:r>
              <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Class: IncreasedRiskOfStroke</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EquivalentTo:</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IncreasedRisk and</a:t>
            </a:r>
          </a:p>
          <a:p xmlns:a="http://schemas.openxmlformats.org/drawingml/2006/main">
            <a:pPr algn="l">
              <a:buNone/>
              <a:defRPr sz="2025" b="0">
                <a:solidFill>
                  <a:srgbClr val="006C70"/>
                </a:solidFill>
                <a:latin typeface="DejaVu Sans Mono"/>
                <a:ea typeface="DejaVu Sans Mono"/>
                <a:cs typeface="DejaVu Sans Mono"/>
              </a:defRPr>
            </a:pPr>
            <a:r>
              <a:rPr sz="2025" b="0">
                <a:solidFill>
                  <a:srgbClr val="006C70"/>
                </a:solidFill>
                <a:latin typeface="DejaVu Sans Mono"/>
                <a:ea typeface="DejaVu Sans Mono"/>
                <a:cs typeface="DejaVu Sans Mono"/>
              </a:rPr>
              <a:t>    refersTo some StrokeCollection</a:t>
            </a:r>
          </a:p>
        </p:txBody>
      </p:sp>
      <p:sp>
        <p:nvSpPr>
          <p:cNvPr id="4" name="primitive-assessment">
            <a:extLst xmlns:a="http://schemas.openxmlformats.org/drawingml/2006/main">
              <a:ext uri="{FF2B5EF4-FFF2-40B4-BE49-F238E27FC236}">
                <a16:creationId xmlns:a16="http://schemas.microsoft.com/office/drawing/2014/main" id="{A7FE8092-F98E-4A77-A839-2C60AC8CB792}"/>
              </a:ext>
            </a:extLst>
          </p:cNvPr>
          <p:cNvSpPr>
            <a:spLocks xmlns:a="http://schemas.openxmlformats.org/drawingml/2006/main" noGrp="1"/>
          </p:cNvSpPr>
          <p:nvPr/>
        </p:nvSpPr>
        <p:spPr>
          <a:xfrm xmlns:a="http://schemas.openxmlformats.org/drawingml/2006/main">
            <a:off x="609600" y="55626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A3422E"/>
                </a:solidFill>
                <a:latin typeface="DejaVu Sans"/>
                <a:ea typeface="DejaVu Sans"/>
                <a:cs typeface="DejaVu Sans"/>
              </a:defRPr>
            </a:defPPr>
          </a:lstStyle>
          <a:p xmlns:a="http://schemas.openxmlformats.org/drawingml/2006/main">
            <a:pPr algn="l">
              <a:buNone/>
              <a:defRPr sz="2175" b="1">
                <a:solidFill>
                  <a:srgbClr val="A3422E"/>
                </a:solidFill>
                <a:latin typeface="DejaVu Sans"/>
                <a:ea typeface="DejaVu Sans"/>
                <a:cs typeface="DejaVu Sans"/>
              </a:defRPr>
            </a:pPr>
            <a:r>
              <a:rPr sz="2175" b="1">
                <a:solidFill>
                  <a:srgbClr val="A3422E"/>
                </a:solidFill>
                <a:latin typeface="DejaVu Sans"/>
                <a:ea typeface="DejaVu Sans"/>
                <a:cs typeface="DejaVu Sans"/>
              </a:rPr>
              <a:t>Works with empty targets. Adds a proxy class for each target.</a:t>
            </a:r>
          </a:p>
        </p:txBody>
      </p:sp>
      <p:sp>
        <p:nvSpPr>
          <p:cNvPr id="6" name="pattern-subtitle">
            <a:extLst xmlns:a="http://schemas.openxmlformats.org/drawingml/2006/main">
              <a:ext uri="{FF2B5EF4-FFF2-40B4-BE49-F238E27FC236}">
                <a16:creationId xmlns:a16="http://schemas.microsoft.com/office/drawing/2014/main" id="{118E7399-D722-47D3-8014-DF1A4561B4FB}"/>
              </a:ext>
            </a:extLst>
          </p:cNvPr>
          <p:cNvSpPr>
            <a:spLocks xmlns:a="http://schemas.openxmlformats.org/drawingml/2006/main" noGrp="1"/>
          </p:cNvSpPr>
          <p:nvPr/>
        </p:nvSpPr>
        <p:spPr>
          <a:xfrm xmlns:a="http://schemas.openxmlformats.org/drawingml/2006/main">
            <a:off x="609600" y="11811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Anonymous reference through a target-specific category</a:t>
            </a:r>
          </a:p>
        </p:txBody>
      </p:sp>
    </p:spTree>
    <p:extLst>
      <p:ext uri="{BB962C8B-B14F-4D97-AF65-F5344CB8AC3E}">
        <p14:creationId xmlns:p14="http://schemas.microsoft.com/office/powerpoint/2010/main" val="1353974520"/>
      </p:ext>
    </p:extLst>
  </p:cSld>
</p:sld>
</file>

<file path=ppt/slides/slide1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0C97CCC-1B06-438D-BFAC-64B53B8BDF68}"/>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Separate named object</a:t>
            </a:r>
          </a:p>
        </p:txBody>
      </p:sp>
      <p:sp>
        <p:nvSpPr>
          <p:cNvPr id="2" name="slide-number">
            <a:extLst xmlns:a="http://schemas.openxmlformats.org/drawingml/2006/main">
              <a:ext uri="{FF2B5EF4-FFF2-40B4-BE49-F238E27FC236}">
                <a16:creationId xmlns:a16="http://schemas.microsoft.com/office/drawing/2014/main" id="{81344B5B-B815-457F-AC5D-7DD2968EC395}"/>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11</a:t>
            </a:r>
          </a:p>
        </p:txBody>
      </p:sp>
      <p:sp>
        <p:nvSpPr>
          <p:cNvPr id="3" name="named-code">
            <a:extLst xmlns:a="http://schemas.openxmlformats.org/drawingml/2006/main">
              <a:ext uri="{FF2B5EF4-FFF2-40B4-BE49-F238E27FC236}">
                <a16:creationId xmlns:a16="http://schemas.microsoft.com/office/drawing/2014/main" id="{1EE24925-423A-4926-A239-A2B28A838541}"/>
              </a:ext>
            </a:extLst>
          </p:cNvPr>
          <p:cNvSpPr>
            <a:spLocks xmlns:a="http://schemas.openxmlformats.org/drawingml/2006/main" noGrp="1"/>
          </p:cNvSpPr>
          <p:nvPr/>
        </p:nvSpPr>
        <p:spPr>
          <a:xfrm xmlns:a="http://schemas.openxmlformats.org/drawingml/2006/main">
            <a:off x="609600" y="1581150"/>
            <a:ext cx="7410450" cy="401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06C70"/>
                </a:solidFill>
                <a:latin typeface="DejaVu Sans Mono"/>
                <a:ea typeface="DejaVu Sans Mono"/>
                <a:cs typeface="DejaVu Sans Mono"/>
              </a:defRPr>
            </a:defPPr>
          </a:lstStyle>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Individual: strokeReference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Types: Collection</a:t>
            </a:r>
          </a:p>
          <a:p xmlns:a="http://schemas.openxmlformats.org/drawingml/2006/main">
            <a:r>
              <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Class: Stroke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SubClassOf: Process</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EquivalentTo:</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isItemIn value strokeReference</a:t>
            </a:r>
          </a:p>
          <a:p xmlns:a="http://schemas.openxmlformats.org/drawingml/2006/main">
            <a:r>
              <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Class: IncreasedRiskOfStroke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EquivalentTo:</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IncreasedRisk and</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refersTo value strokeReference</a:t>
            </a:r>
          </a:p>
        </p:txBody>
      </p:sp>
      <p:sp>
        <p:nvSpPr>
          <p:cNvPr id="4" name="named-semantics-1">
            <a:extLst xmlns:a="http://schemas.openxmlformats.org/drawingml/2006/main">
              <a:ext uri="{FF2B5EF4-FFF2-40B4-BE49-F238E27FC236}">
                <a16:creationId xmlns:a16="http://schemas.microsoft.com/office/drawing/2014/main" id="{9D2D7145-9D67-4867-BD59-EE9C985AC91D}"/>
              </a:ext>
            </a:extLst>
          </p:cNvPr>
          <p:cNvSpPr>
            <a:spLocks xmlns:a="http://schemas.openxmlformats.org/drawingml/2006/main" noGrp="1"/>
          </p:cNvSpPr>
          <p:nvPr/>
        </p:nvSpPr>
        <p:spPr>
          <a:xfrm xmlns:a="http://schemas.openxmlformats.org/drawingml/2006/main">
            <a:off x="8382000" y="17049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3B"/>
                </a:solidFill>
                <a:latin typeface="DejaVu Sans"/>
                <a:ea typeface="DejaVu Sans"/>
                <a:cs typeface="DejaVu Sans"/>
              </a:defRPr>
            </a:defPPr>
          </a:lstStyle>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Stroke class</a:t>
            </a:r>
          </a:p>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Process instances</a:t>
            </a:r>
          </a:p>
        </p:txBody>
      </p:sp>
      <p:sp>
        <p:nvSpPr>
          <p:cNvPr id="5" name="named-semantics-2">
            <a:extLst xmlns:a="http://schemas.openxmlformats.org/drawingml/2006/main">
              <a:ext uri="{FF2B5EF4-FFF2-40B4-BE49-F238E27FC236}">
                <a16:creationId xmlns:a16="http://schemas.microsoft.com/office/drawing/2014/main" id="{3522F136-9C70-41F7-BF30-BB7973B121F1}"/>
              </a:ext>
            </a:extLst>
          </p:cNvPr>
          <p:cNvSpPr>
            <a:spLocks xmlns:a="http://schemas.openxmlformats.org/drawingml/2006/main" noGrp="1"/>
          </p:cNvSpPr>
          <p:nvPr/>
        </p:nvSpPr>
        <p:spPr>
          <a:xfrm xmlns:a="http://schemas.openxmlformats.org/drawingml/2006/main">
            <a:off x="8382000" y="31242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6C70"/>
                </a:solidFill>
                <a:latin typeface="DejaVu Sans"/>
                <a:ea typeface="DejaVu Sans"/>
                <a:cs typeface="DejaVu Sans"/>
              </a:defRPr>
            </a:defPPr>
          </a:lstStyle>
          <a:p xmlns:a="http://schemas.openxmlformats.org/drawingml/2006/main">
            <a:pPr algn="l">
              <a:buNone/>
              <a:defRPr sz="2025" b="1">
                <a:solidFill>
                  <a:srgbClr val="006C70"/>
                </a:solidFill>
                <a:latin typeface="DejaVu Sans"/>
                <a:ea typeface="DejaVu Sans"/>
                <a:cs typeface="DejaVu Sans"/>
              </a:defRPr>
            </a:pPr>
            <a:r>
              <a:rPr sz="2025" b="1">
                <a:solidFill>
                  <a:srgbClr val="006C70"/>
                </a:solidFill>
                <a:latin typeface="DejaVu Sans"/>
                <a:ea typeface="DejaVu Sans"/>
                <a:cs typeface="DejaVu Sans"/>
              </a:rPr>
              <a:t>strokeReference</a:t>
            </a:r>
          </a:p>
          <a:p xmlns:a="http://schemas.openxmlformats.org/drawingml/2006/main">
            <a:pPr algn="l">
              <a:buNone/>
              <a:defRPr sz="2025" b="1">
                <a:solidFill>
                  <a:srgbClr val="006C70"/>
                </a:solidFill>
                <a:latin typeface="DejaVu Sans"/>
                <a:ea typeface="DejaVu Sans"/>
                <a:cs typeface="DejaVu Sans"/>
              </a:defRPr>
            </a:pPr>
            <a:r>
              <a:rPr sz="2025" b="1">
                <a:solidFill>
                  <a:srgbClr val="006C70"/>
                </a:solidFill>
                <a:latin typeface="DejaVu Sans"/>
                <a:ea typeface="DejaVu Sans"/>
                <a:cs typeface="DejaVu Sans"/>
              </a:rPr>
              <a:t>Reference individual</a:t>
            </a:r>
          </a:p>
        </p:txBody>
      </p:sp>
      <p:sp>
        <p:nvSpPr>
          <p:cNvPr id="6" name="named-semantics-3">
            <a:extLst xmlns:a="http://schemas.openxmlformats.org/drawingml/2006/main">
              <a:ext uri="{FF2B5EF4-FFF2-40B4-BE49-F238E27FC236}">
                <a16:creationId xmlns:a16="http://schemas.microsoft.com/office/drawing/2014/main" id="{5BCE3857-529F-442E-87CC-5B4E46CFA01F}"/>
              </a:ext>
            </a:extLst>
          </p:cNvPr>
          <p:cNvSpPr>
            <a:spLocks xmlns:a="http://schemas.openxmlformats.org/drawingml/2006/main" noGrp="1"/>
          </p:cNvSpPr>
          <p:nvPr/>
        </p:nvSpPr>
        <p:spPr>
          <a:xfrm xmlns:a="http://schemas.openxmlformats.org/drawingml/2006/main">
            <a:off x="8382000" y="454342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3B"/>
                </a:solidFill>
                <a:latin typeface="DejaVu Sans"/>
                <a:ea typeface="DejaVu Sans"/>
                <a:cs typeface="DejaVu Sans"/>
              </a:defRPr>
            </a:defPPr>
          </a:lstStyle>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Exact membership</a:t>
            </a:r>
          </a:p>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May be empty</a:t>
            </a:r>
          </a:p>
        </p:txBody>
      </p:sp>
      <p:sp>
        <p:nvSpPr>
          <p:cNvPr id="7" name="named-cost">
            <a:extLst xmlns:a="http://schemas.openxmlformats.org/drawingml/2006/main">
              <a:ext uri="{FF2B5EF4-FFF2-40B4-BE49-F238E27FC236}">
                <a16:creationId xmlns:a16="http://schemas.microsoft.com/office/drawing/2014/main" id="{ABDC5AED-1F23-424A-A19F-C9DB8F3C26F2}"/>
              </a:ext>
            </a:extLst>
          </p:cNvPr>
          <p:cNvSpPr>
            <a:spLocks xmlns:a="http://schemas.openxmlformats.org/drawingml/2006/main" noGrp="1"/>
          </p:cNvSpPr>
          <p:nvPr/>
        </p:nvSpPr>
        <p:spPr>
          <a:xfrm xmlns:a="http://schemas.openxmlformats.org/drawingml/2006/main">
            <a:off x="609600" y="58769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buNone/>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Cost: one reference individual and one bridge per referenced type.</a:t>
            </a:r>
          </a:p>
        </p:txBody>
      </p:sp>
      <p:sp>
        <p:nvSpPr>
          <p:cNvPr id="9" name="pattern-subtitle">
            <a:extLst xmlns:a="http://schemas.openxmlformats.org/drawingml/2006/main">
              <a:ext uri="{FF2B5EF4-FFF2-40B4-BE49-F238E27FC236}">
                <a16:creationId xmlns:a16="http://schemas.microsoft.com/office/drawing/2014/main" id="{43163C1C-09A1-4A8E-AFB7-DAF612DECFEC}"/>
              </a:ext>
            </a:extLst>
          </p:cNvPr>
          <p:cNvSpPr>
            <a:spLocks xmlns:a="http://schemas.openxmlformats.org/drawingml/2006/main" noGrp="1"/>
          </p:cNvSpPr>
          <p:nvPr/>
        </p:nvSpPr>
        <p:spPr>
          <a:xfrm xmlns:a="http://schemas.openxmlformats.org/drawingml/2006/main">
            <a:off x="609600" y="11811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Named reference without punning</a:t>
            </a:r>
          </a:p>
        </p:txBody>
      </p:sp>
    </p:spTree>
    <p:extLst>
      <p:ext uri="{BB962C8B-B14F-4D97-AF65-F5344CB8AC3E}">
        <p14:creationId xmlns:p14="http://schemas.microsoft.com/office/powerpoint/2010/main" val="1499794159"/>
      </p:ext>
    </p:extLst>
  </p:cSld>
</p:sld>
</file>

<file path=ppt/slides/slide12.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0798F4A-573B-42C6-BF2A-F40CBD15A46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Punned named object</a:t>
            </a:r>
          </a:p>
        </p:txBody>
      </p:sp>
      <p:sp>
        <p:nvSpPr>
          <p:cNvPr id="2" name="slide-number">
            <a:extLst xmlns:a="http://schemas.openxmlformats.org/drawingml/2006/main">
              <a:ext uri="{FF2B5EF4-FFF2-40B4-BE49-F238E27FC236}">
                <a16:creationId xmlns:a16="http://schemas.microsoft.com/office/drawing/2014/main" id="{72970E1E-2B1C-4D36-ABD5-E599AE2BC223}"/>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12</a:t>
            </a:r>
          </a:p>
        </p:txBody>
      </p:sp>
      <p:sp>
        <p:nvSpPr>
          <p:cNvPr id="3" name="punning-code">
            <a:extLst xmlns:a="http://schemas.openxmlformats.org/drawingml/2006/main">
              <a:ext uri="{FF2B5EF4-FFF2-40B4-BE49-F238E27FC236}">
                <a16:creationId xmlns:a16="http://schemas.microsoft.com/office/drawing/2014/main" id="{D0BFC5E5-6C7C-437C-9624-212E119914B5}"/>
              </a:ext>
            </a:extLst>
          </p:cNvPr>
          <p:cNvSpPr>
            <a:spLocks xmlns:a="http://schemas.openxmlformats.org/drawingml/2006/main" noGrp="1"/>
          </p:cNvSpPr>
          <p:nvPr/>
        </p:nvSpPr>
        <p:spPr>
          <a:xfrm xmlns:a="http://schemas.openxmlformats.org/drawingml/2006/main">
            <a:off x="609600" y="1581150"/>
            <a:ext cx="7410450" cy="401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06C70"/>
                </a:solidFill>
                <a:latin typeface="DejaVu Sans Mono"/>
                <a:ea typeface="DejaVu Sans Mono"/>
                <a:cs typeface="DejaVu Sans Mono"/>
              </a:defRPr>
            </a:defPPr>
          </a:lstStyle>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Individual: Stroke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Types: Collection</a:t>
            </a:r>
          </a:p>
          <a:p xmlns:a="http://schemas.openxmlformats.org/drawingml/2006/main">
            <a:r>
              <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Class: Stroke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SubClassOf: Process</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EquivalentTo:</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isItemIn value Stroke</a:t>
            </a:r>
          </a:p>
          <a:p xmlns:a="http://schemas.openxmlformats.org/drawingml/2006/main">
            <a:r>
              <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Class: IncreasedRiskOfStroke</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EquivalentTo:</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IncreasedRisk and</a:t>
            </a:r>
          </a:p>
          <a:p xmlns:a="http://schemas.openxmlformats.org/drawingml/2006/main">
            <a:pPr algn="l">
              <a:buNone/>
              <a:defRPr sz="1800" b="0">
                <a:solidFill>
                  <a:srgbClr val="006C70"/>
                </a:solidFill>
                <a:latin typeface="DejaVu Sans Mono"/>
                <a:ea typeface="DejaVu Sans Mono"/>
                <a:cs typeface="DejaVu Sans Mono"/>
              </a:defRPr>
            </a:pPr>
            <a:r>
              <a:rPr sz="1800" b="0">
                <a:solidFill>
                  <a:srgbClr val="006C70"/>
                </a:solidFill>
                <a:latin typeface="DejaVu Sans Mono"/>
                <a:ea typeface="DejaVu Sans Mono"/>
                <a:cs typeface="DejaVu Sans Mono"/>
              </a:rPr>
              <a:t>    refersTo value Stroke</a:t>
            </a:r>
          </a:p>
        </p:txBody>
      </p:sp>
      <p:sp>
        <p:nvSpPr>
          <p:cNvPr id="4" name="punning-interpretation">
            <a:extLst xmlns:a="http://schemas.openxmlformats.org/drawingml/2006/main">
              <a:ext uri="{FF2B5EF4-FFF2-40B4-BE49-F238E27FC236}">
                <a16:creationId xmlns:a16="http://schemas.microsoft.com/office/drawing/2014/main" id="{2E32F252-57A4-4253-A009-DCFE18B6B396}"/>
              </a:ext>
            </a:extLst>
          </p:cNvPr>
          <p:cNvSpPr>
            <a:spLocks xmlns:a="http://schemas.openxmlformats.org/drawingml/2006/main" noGrp="1"/>
          </p:cNvSpPr>
          <p:nvPr/>
        </p:nvSpPr>
        <p:spPr>
          <a:xfrm xmlns:a="http://schemas.openxmlformats.org/drawingml/2006/main">
            <a:off x="8334375" y="18097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D3B"/>
                </a:solidFill>
                <a:latin typeface="DejaVu Sans"/>
                <a:ea typeface="DejaVu Sans"/>
                <a:cs typeface="DejaVu Sans"/>
              </a:defRPr>
            </a:defPPr>
          </a:lstStyle>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One IRI</a:t>
            </a:r>
          </a:p>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Two independent facets</a:t>
            </a:r>
          </a:p>
        </p:txBody>
      </p:sp>
      <p:sp>
        <p:nvSpPr>
          <p:cNvPr id="5" name="punning-bridge">
            <a:extLst xmlns:a="http://schemas.openxmlformats.org/drawingml/2006/main">
              <a:ext uri="{FF2B5EF4-FFF2-40B4-BE49-F238E27FC236}">
                <a16:creationId xmlns:a16="http://schemas.microsoft.com/office/drawing/2014/main" id="{17E22FE5-B4FD-4C6E-8D57-8C95A310C8F9}"/>
              </a:ext>
            </a:extLst>
          </p:cNvPr>
          <p:cNvSpPr>
            <a:spLocks xmlns:a="http://schemas.openxmlformats.org/drawingml/2006/main" noGrp="1"/>
          </p:cNvSpPr>
          <p:nvPr/>
        </p:nvSpPr>
        <p:spPr>
          <a:xfrm xmlns:a="http://schemas.openxmlformats.org/drawingml/2006/main">
            <a:off x="8334375" y="3448050"/>
            <a:ext cx="3143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6C70"/>
                </a:solidFill>
                <a:latin typeface="DejaVu Sans"/>
                <a:ea typeface="DejaVu Sans"/>
                <a:cs typeface="DejaVu Sans"/>
              </a:defRPr>
            </a:defPPr>
          </a:lstStyle>
          <a:p xmlns:a="http://schemas.openxmlformats.org/drawingml/2006/main">
            <a:pPr algn="l">
              <a:buNone/>
              <a:defRPr sz="2100" b="1">
                <a:solidFill>
                  <a:srgbClr val="006C70"/>
                </a:solidFill>
                <a:latin typeface="DejaVu Sans"/>
                <a:ea typeface="DejaVu Sans"/>
                <a:cs typeface="DejaVu Sans"/>
              </a:defRPr>
            </a:pPr>
            <a:r>
              <a:rPr sz="2100" b="1">
                <a:solidFill>
                  <a:srgbClr val="006C70"/>
                </a:solidFill>
                <a:latin typeface="DejaVu Sans"/>
                <a:ea typeface="DejaVu Sans"/>
                <a:cs typeface="DejaVu Sans"/>
              </a:rPr>
              <a:t>The explicit bridge</a:t>
            </a:r>
          </a:p>
          <a:p xmlns:a="http://schemas.openxmlformats.org/drawingml/2006/main">
            <a:pPr algn="l">
              <a:buNone/>
              <a:defRPr sz="2100" b="1">
                <a:solidFill>
                  <a:srgbClr val="006C70"/>
                </a:solidFill>
                <a:latin typeface="DejaVu Sans"/>
                <a:ea typeface="DejaVu Sans"/>
                <a:cs typeface="DejaVu Sans"/>
              </a:defRPr>
            </a:pPr>
            <a:r>
              <a:rPr sz="2100" b="1">
                <a:solidFill>
                  <a:srgbClr val="006C70"/>
                </a:solidFill>
                <a:latin typeface="DejaVu Sans"/>
                <a:ea typeface="DejaVu Sans"/>
                <a:cs typeface="DejaVu Sans"/>
              </a:rPr>
              <a:t>connects membership.</a:t>
            </a:r>
          </a:p>
        </p:txBody>
      </p:sp>
      <p:sp>
        <p:nvSpPr>
          <p:cNvPr id="6" name="punning-preference">
            <a:extLst xmlns:a="http://schemas.openxmlformats.org/drawingml/2006/main">
              <a:ext uri="{FF2B5EF4-FFF2-40B4-BE49-F238E27FC236}">
                <a16:creationId xmlns:a16="http://schemas.microsoft.com/office/drawing/2014/main" id="{631139FB-BAF1-4D62-926D-D83BD26E6A7F}"/>
              </a:ext>
            </a:extLst>
          </p:cNvPr>
          <p:cNvSpPr>
            <a:spLocks xmlns:a="http://schemas.openxmlformats.org/drawingml/2006/main" noGrp="1"/>
          </p:cNvSpPr>
          <p:nvPr/>
        </p:nvSpPr>
        <p:spPr>
          <a:xfrm xmlns:a="http://schemas.openxmlformats.org/drawingml/2006/main">
            <a:off x="609600" y="5876925"/>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buNone/>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Separate identifiers remain the preferred presentation.</a:t>
            </a:r>
          </a:p>
        </p:txBody>
      </p:sp>
      <p:sp>
        <p:nvSpPr>
          <p:cNvPr id="8" name="pattern-subtitle">
            <a:extLst xmlns:a="http://schemas.openxmlformats.org/drawingml/2006/main">
              <a:ext uri="{FF2B5EF4-FFF2-40B4-BE49-F238E27FC236}">
                <a16:creationId xmlns:a16="http://schemas.microsoft.com/office/drawing/2014/main" id="{E99F657E-2A12-491A-96F4-C58CCAEEAED0}"/>
              </a:ext>
            </a:extLst>
          </p:cNvPr>
          <p:cNvSpPr>
            <a:spLocks xmlns:a="http://schemas.openxmlformats.org/drawingml/2006/main" noGrp="1"/>
          </p:cNvSpPr>
          <p:nvPr/>
        </p:nvSpPr>
        <p:spPr>
          <a:xfrm xmlns:a="http://schemas.openxmlformats.org/drawingml/2006/main">
            <a:off x="609600" y="1181100"/>
            <a:ext cx="10972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66673"/>
                </a:solidFill>
                <a:latin typeface="DejaVu Sans"/>
                <a:ea typeface="DejaVu Sans"/>
                <a:cs typeface="DejaVu Sans"/>
              </a:defRPr>
            </a:defPPr>
          </a:lstStyle>
          <a:p xmlns:a="http://schemas.openxmlformats.org/drawingml/2006/main">
            <a:pPr algn="l">
              <a:defRPr sz="1875" b="0">
                <a:solidFill>
                  <a:srgbClr val="566673"/>
                </a:solidFill>
                <a:latin typeface="DejaVu Sans"/>
                <a:ea typeface="DejaVu Sans"/>
                <a:cs typeface="DejaVu Sans"/>
              </a:defRPr>
            </a:pPr>
            <a:r>
              <a:rPr sz="1875" b="0">
                <a:solidFill>
                  <a:srgbClr val="566673"/>
                </a:solidFill>
                <a:latin typeface="DejaVu Sans"/>
                <a:ea typeface="DejaVu Sans"/>
                <a:cs typeface="DejaVu Sans"/>
              </a:rPr>
              <a:t>Optional reuse of the type IRI</a:t>
            </a:r>
          </a:p>
        </p:txBody>
      </p:sp>
    </p:spTree>
    <p:extLst>
      <p:ext uri="{BB962C8B-B14F-4D97-AF65-F5344CB8AC3E}">
        <p14:creationId xmlns:p14="http://schemas.microsoft.com/office/powerpoint/2010/main" val="1496429985"/>
      </p:ext>
    </p:extLst>
  </p:cSld>
</p:sld>
</file>

<file path=ppt/slides/slide13.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1A95EB98-4801-4F03-9C07-F188C8C10007}"/>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Assessment of the eight patterns</a:t>
            </a:r>
          </a:p>
        </p:txBody>
      </p:sp>
      <p:sp>
        <p:nvSpPr>
          <p:cNvPr id="2" name="slide-number">
            <a:extLst xmlns:a="http://schemas.openxmlformats.org/drawingml/2006/main">
              <a:ext uri="{FF2B5EF4-FFF2-40B4-BE49-F238E27FC236}">
                <a16:creationId xmlns:a16="http://schemas.microsoft.com/office/drawing/2014/main" id="{77B119B4-BA0E-4759-8A96-53E859899527}"/>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13</a:t>
            </a:r>
          </a:p>
        </p:txBody>
      </p:sp>
      <p:graphicFrame>
        <p:nvGraphicFramePr>
          <p:cNvPr id="3" name="">
            <a:extLst xmlns:a="http://schemas.openxmlformats.org/drawingml/2006/main">
              <a:ext uri="{FF2B5EF4-FFF2-40B4-BE49-F238E27FC236}">
                <a16:creationId xmlns:a16="http://schemas.microsoft.com/office/drawing/2014/main" id="{78B879C7-7DDC-4DA3-A102-3C7C21B5949D}"/>
              </a:ext>
            </a:extLst>
          </p:cNvPr>
          <p:cNvGraphicFramePr/>
          <p:nvPr/>
        </p:nvGraphicFramePr>
        <p:xfrm>
          <a:off xmlns:a="http://schemas.openxmlformats.org/drawingml/2006/main" x="609600" y="1381125"/>
          <a:ext xmlns:a="http://schemas.openxmlformats.org/drawingml/2006/main" cx="10972800" cy="4838700"/>
        </p:xfrm>
        <a:graphic xmlns:a="http://schemas.openxmlformats.org/drawingml/2006/main">
          <a:graphicData uri="http://schemas.openxmlformats.org/drawingml/2006/table">
            <a:tbl>
              <a:tblPr firstRow="0" bandRow="0"/>
              <a:tblGrid>
                <a:gridCol w="3114675"/>
                <a:gridCol w="2105025"/>
                <a:gridCol w="2905125"/>
                <a:gridCol w="2847975"/>
              </a:tblGrid>
              <a:tr h="800100">
                <a:tc>
                  <a:txBody>
                    <a:bodyPr wrap="square">
                      <a:noAutofit/>
                    </a:bodyPr>
                    <a:lstStyle/>
                    <a:p>
                      <a:r>
                        <a:rPr sz="1725" b="1">
                          <a:solidFill>
                            <a:srgbClr val="FFFFFF"/>
                          </a:solidFill>
                          <a:latin typeface="DejaVu Sans"/>
                          <a:ea typeface="DejaVu Sans"/>
                          <a:cs typeface="DejaVu Sans"/>
                        </a:rPr>
                        <a:t>Pattern</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725" b="1">
                          <a:solidFill>
                            <a:srgbClr val="FFFFFF"/>
                          </a:solidFill>
                          <a:latin typeface="DejaVu Sans"/>
                          <a:ea typeface="DejaVu Sans"/>
                          <a:cs typeface="DejaVu Sans"/>
                        </a:rPr>
                        <a:t>Empty target</a:t>
                      </a:r>
                    </a:p>
                    <a:p>
                      <a:r>
                        <a:rPr sz="1725" b="1">
                          <a:solidFill>
                            <a:srgbClr val="FFFFFF"/>
                          </a:solidFill>
                          <a:latin typeface="DejaVu Sans"/>
                          <a:ea typeface="DejaVu Sans"/>
                          <a:cs typeface="DejaVu Sans"/>
                        </a:rPr>
                        <a:t>with reference?</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725" b="1">
                          <a:solidFill>
                            <a:srgbClr val="FFFFFF"/>
                          </a:solidFill>
                          <a:latin typeface="DejaVu Sans"/>
                          <a:ea typeface="DejaVu Sans"/>
                          <a:cs typeface="DejaVu Sans"/>
                        </a:rPr>
                        <a:t>Target marker</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725" b="1">
                          <a:solidFill>
                            <a:srgbClr val="FFFFFF"/>
                          </a:solidFill>
                          <a:latin typeface="DejaVu Sans"/>
                          <a:ea typeface="DejaVu Sans"/>
                          <a:cs typeface="DejaVu Sans"/>
                        </a:rPr>
                        <a:t>Assessment</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504825">
                <a:tc>
                  <a:txBody>
                    <a:bodyPr wrap="square">
                      <a:noAutofit/>
                    </a:bodyPr>
                    <a:lstStyle/>
                    <a:p>
                      <a:r>
                        <a:rPr sz="1725" b="0">
                          <a:solidFill>
                            <a:srgbClr val="172D3B"/>
                          </a:solidFill>
                          <a:latin typeface="DejaVu Sans"/>
                          <a:ea typeface="DejaVu Sans"/>
                          <a:cs typeface="DejaVu Sans"/>
                        </a:rPr>
                        <a:t>Direct process</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No</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Process witness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Requires an instance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504825">
                <a:tc>
                  <a:txBody>
                    <a:bodyPr wrap="square">
                      <a:noAutofit/>
                    </a:bodyPr>
                    <a:lstStyle/>
                    <a:p>
                      <a:r>
                        <a:rPr sz="1725" b="0">
                          <a:solidFill>
                            <a:srgbClr val="172D3B"/>
                          </a:solidFill>
                          <a:latin typeface="DejaVu Sans"/>
                          <a:ea typeface="DejaVu Sans"/>
                          <a:cs typeface="DejaVu Sans"/>
                        </a:rPr>
                        <a:t>Existential collection</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No</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Member witness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Requires an instance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504825">
                <a:tc>
                  <a:txBody>
                    <a:bodyPr wrap="square">
                      <a:noAutofit/>
                    </a:bodyPr>
                    <a:lstStyle/>
                    <a:p>
                      <a:r>
                        <a:rPr sz="1725" b="0">
                          <a:solidFill>
                            <a:srgbClr val="172D3B"/>
                          </a:solidFill>
                          <a:latin typeface="DejaVu Sans"/>
                          <a:ea typeface="DejaVu Sans"/>
                          <a:cs typeface="DejaVu Sans"/>
                        </a:rPr>
                        <a:t>Existential TYSP</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No</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Extension witness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Requires an instance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504825">
                <a:tc>
                  <a:txBody>
                    <a:bodyPr wrap="square">
                      <a:noAutofit/>
                    </a:bodyPr>
                    <a:lstStyle/>
                    <a:p>
                      <a:r>
                        <a:rPr sz="1725" b="0">
                          <a:solidFill>
                            <a:srgbClr val="172D3B"/>
                          </a:solidFill>
                          <a:latin typeface="DejaVu Sans"/>
                          <a:ea typeface="DejaVu Sans"/>
                          <a:cs typeface="DejaVu Sans"/>
                        </a:rPr>
                        <a:t>Closed universal</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No</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Reference condition</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Can lose all edges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504825">
                <a:tc>
                  <a:txBody>
                    <a:bodyPr wrap="square">
                      <a:noAutofit/>
                    </a:bodyPr>
                    <a:lstStyle/>
                    <a:p>
                      <a:r>
                        <a:rPr sz="1725" b="0">
                          <a:solidFill>
                            <a:srgbClr val="172D3B"/>
                          </a:solidFill>
                          <a:latin typeface="DejaVu Sans"/>
                          <a:ea typeface="DejaVu Sans"/>
                          <a:cs typeface="DejaVu Sans"/>
                        </a:rPr>
                        <a:t>Inline universal</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Yes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Membership only</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Vacuity ambiguity</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504825">
                <a:tc>
                  <a:txBody>
                    <a:bodyPr wrap="square">
                      <a:noAutofit/>
                    </a:bodyPr>
                    <a:lstStyle/>
                    <a:p>
                      <a:r>
                        <a:rPr sz="1725" b="0">
                          <a:solidFill>
                            <a:srgbClr val="172D3B"/>
                          </a:solidFill>
                          <a:latin typeface="DejaVu Sans"/>
                          <a:ea typeface="DejaVu Sans"/>
                          <a:cs typeface="DejaVu Sans"/>
                        </a:rPr>
                        <a:t>Primitive proxy class</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Yes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Target-specific class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Extra vocabulary</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504825">
                <a:tc>
                  <a:txBody>
                    <a:bodyPr wrap="square">
                      <a:noAutofit/>
                    </a:bodyPr>
                    <a:lstStyle/>
                    <a:p>
                      <a:r>
                        <a:rPr sz="1725" b="0">
                          <a:solidFill>
                            <a:srgbClr val="172D3B"/>
                          </a:solidFill>
                          <a:latin typeface="DejaVu Sans"/>
                          <a:ea typeface="DejaVu Sans"/>
                          <a:cs typeface="DejaVu Sans"/>
                        </a:rPr>
                        <a:t>Separate named object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Yes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Individual + bridge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Preferred compromise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504825">
                <a:tc>
                  <a:txBody>
                    <a:bodyPr wrap="square">
                      <a:noAutofit/>
                    </a:bodyPr>
                    <a:lstStyle/>
                    <a:p>
                      <a:r>
                        <a:rPr sz="1725" b="0">
                          <a:solidFill>
                            <a:srgbClr val="172D3B"/>
                          </a:solidFill>
                          <a:latin typeface="DejaVu Sans"/>
                          <a:ea typeface="DejaVu Sans"/>
                          <a:cs typeface="DejaVu Sans"/>
                        </a:rPr>
                        <a:t>Punned named object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Yes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IRI facets + bridge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Optional naming</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bl>
          </a:graphicData>
        </a:graphic>
      </p:graphicFrame>
    </p:spTree>
    <p:extLst>
      <p:ext uri="{BB962C8B-B14F-4D97-AF65-F5344CB8AC3E}">
        <p14:creationId xmlns:p14="http://schemas.microsoft.com/office/powerpoint/2010/main" val="215698457"/>
      </p:ext>
    </p:extLst>
  </p:cSld>
</p:sld>
</file>

<file path=ppt/slides/slide14.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7E39548-E9A3-4F0D-BBF2-5F34465539F8}"/>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Executable assessment with HermiT</a:t>
            </a:r>
          </a:p>
        </p:txBody>
      </p:sp>
      <p:sp>
        <p:nvSpPr>
          <p:cNvPr id="2" name="slide-number">
            <a:extLst xmlns:a="http://schemas.openxmlformats.org/drawingml/2006/main">
              <a:ext uri="{FF2B5EF4-FFF2-40B4-BE49-F238E27FC236}">
                <a16:creationId xmlns:a16="http://schemas.microsoft.com/office/drawing/2014/main" id="{2D5CF5E9-0BC5-4C71-AD29-1570DAAC7FD6}"/>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14</a:t>
            </a:r>
          </a:p>
        </p:txBody>
      </p:sp>
      <p:sp>
        <p:nvSpPr>
          <p:cNvPr id="9" name="assessment-setup">
            <a:extLst xmlns:a="http://schemas.openxmlformats.org/drawingml/2006/main">
              <a:ext uri="{FF2B5EF4-FFF2-40B4-BE49-F238E27FC236}">
                <a16:creationId xmlns:a16="http://schemas.microsoft.com/office/drawing/2014/main" id="{F5F0D8FD-9A60-47F4-B303-96C16A000AAD}"/>
              </a:ext>
            </a:extLst>
          </p:cNvPr>
          <p:cNvSpPr>
            <a:spLocks xmlns:a="http://schemas.openxmlformats.org/drawingml/2006/main" noGrp="1"/>
          </p:cNvSpPr>
          <p:nvPr/>
        </p:nvSpPr>
        <p:spPr>
          <a:xfrm xmlns:a="http://schemas.openxmlformats.org/drawingml/2006/main">
            <a:off x="609600" y="1181100"/>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72D3B"/>
                </a:solidFill>
                <a:latin typeface="DejaVu Sans"/>
                <a:ea typeface="DejaVu Sans"/>
                <a:cs typeface="DejaVu Sans"/>
              </a:defRPr>
            </a:defPPr>
          </a:lstStyle>
          <a:p xmlns:a="http://schemas.openxmlformats.org/drawingml/2006/main">
            <a:pPr algn="l">
              <a:defRPr sz="1875" b="0">
                <a:solidFill>
                  <a:srgbClr val="172D3B"/>
                </a:solidFill>
                <a:latin typeface="DejaVu Sans"/>
                <a:ea typeface="DejaVu Sans"/>
                <a:cs typeface="DejaVu Sans"/>
              </a:defRPr>
            </a:pPr>
            <a:r>
              <a:rPr sz="1875" b="0">
                <a:solidFill>
                  <a:srgbClr val="172D3B"/>
                </a:solidFill>
                <a:latin typeface="DejaVu Sans"/>
                <a:ea typeface="DejaVu Sans"/>
                <a:cs typeface="DejaVu Sans"/>
              </a:rPr>
              <a:t>Test an instantiated stroke risk in separate modules, adding:</a:t>
            </a:r>
          </a:p>
        </p:txBody>
      </p:sp>
      <p:sp>
        <p:nvSpPr>
          <p:cNvPr id="10" name="assessment-empty-target">
            <a:extLst xmlns:a="http://schemas.openxmlformats.org/drawingml/2006/main">
              <a:ext uri="{FF2B5EF4-FFF2-40B4-BE49-F238E27FC236}">
                <a16:creationId xmlns:a16="http://schemas.microsoft.com/office/drawing/2014/main" id="{D191ADC5-4161-487C-B27C-D0DFC47A36E3}"/>
              </a:ext>
            </a:extLst>
          </p:cNvPr>
          <p:cNvSpPr>
            <a:spLocks xmlns:a="http://schemas.openxmlformats.org/drawingml/2006/main" noGrp="1"/>
          </p:cNvSpPr>
          <p:nvPr/>
        </p:nvSpPr>
        <p:spPr>
          <a:xfrm xmlns:a="http://schemas.openxmlformats.org/drawingml/2006/main">
            <a:off x="609600" y="16192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6C70"/>
                </a:solidFill>
                <a:latin typeface="DejaVu Sans Mono"/>
                <a:ea typeface="DejaVu Sans Mono"/>
                <a:cs typeface="DejaVu Sans Mono"/>
              </a:defRPr>
            </a:defPPr>
          </a:lstStyle>
          <a:p xmlns:a="http://schemas.openxmlformats.org/drawingml/2006/main">
            <a:pPr algn="l">
              <a:defRPr sz="2100" b="0">
                <a:solidFill>
                  <a:srgbClr val="006C70"/>
                </a:solidFill>
                <a:latin typeface="DejaVu Sans Mono"/>
                <a:ea typeface="DejaVu Sans Mono"/>
                <a:cs typeface="DejaVu Sans Mono"/>
              </a:defRPr>
            </a:pPr>
            <a:r>
              <a:rPr sz="2100" b="0">
                <a:solidFill>
                  <a:srgbClr val="006C70"/>
                </a:solidFill>
                <a:latin typeface="DejaVu Sans Mono"/>
                <a:ea typeface="DejaVu Sans Mono"/>
                <a:cs typeface="DejaVu Sans Mono"/>
              </a:rPr>
              <a:t>Stroke EquivalentTo owl:Nothing</a:t>
            </a:r>
          </a:p>
        </p:txBody>
      </p:sp>
      <p:graphicFrame>
        <p:nvGraphicFramePr>
          <p:cNvPr id="11" name="">
            <a:extLst xmlns:a="http://schemas.openxmlformats.org/drawingml/2006/main">
              <a:ext uri="{FF2B5EF4-FFF2-40B4-BE49-F238E27FC236}">
                <a16:creationId xmlns:a16="http://schemas.microsoft.com/office/drawing/2014/main" id="{8C01B73A-3E40-4100-8B23-02D27D8F9B7C}"/>
              </a:ext>
            </a:extLst>
          </p:cNvPr>
          <p:cNvGraphicFramePr/>
          <p:nvPr/>
        </p:nvGraphicFramePr>
        <p:xfrm>
          <a:off xmlns:a="http://schemas.openxmlformats.org/drawingml/2006/main" x="609600" y="2171700"/>
          <a:ext xmlns:a="http://schemas.openxmlformats.org/drawingml/2006/main" cx="10972800" cy="3714750"/>
        </p:xfrm>
        <a:graphic xmlns:a="http://schemas.openxmlformats.org/drawingml/2006/main">
          <a:graphicData uri="http://schemas.openxmlformats.org/drawingml/2006/table">
            <a:tbl>
              <a:tblPr firstRow="0" bandRow="0"/>
              <a:tblGrid>
                <a:gridCol w="3333750"/>
                <a:gridCol w="7639050"/>
              </a:tblGrid>
              <a:tr h="495300">
                <a:tc>
                  <a:txBody>
                    <a:bodyPr wrap="square">
                      <a:noAutofit/>
                    </a:bodyPr>
                    <a:lstStyle/>
                    <a:p>
                      <a:r>
                        <a:rPr sz="1725" b="1">
                          <a:solidFill>
                            <a:srgbClr val="FFFFFF"/>
                          </a:solidFill>
                          <a:latin typeface="DejaVu Sans"/>
                          <a:ea typeface="DejaVu Sans"/>
                          <a:cs typeface="DejaVu Sans"/>
                        </a:rPr>
                        <a:t>Pattern</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725" b="1">
                          <a:solidFill>
                            <a:srgbClr val="FFFFFF"/>
                          </a:solidFill>
                          <a:latin typeface="DejaVu Sans"/>
                          <a:ea typeface="DejaVu Sans"/>
                          <a:cs typeface="DejaVu Sans"/>
                        </a:rPr>
                        <a:t>HermiT result</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1009650">
                <a:tc>
                  <a:txBody>
                    <a:bodyPr wrap="square">
                      <a:noAutofit/>
                    </a:bodyPr>
                    <a:lstStyle/>
                    <a:p>
                      <a:r>
                        <a:rPr sz="1725" b="0">
                          <a:solidFill>
                            <a:srgbClr val="172D3B"/>
                          </a:solidFill>
                          <a:latin typeface="DejaVu Sans"/>
                          <a:ea typeface="DejaVu Sans"/>
                          <a:cs typeface="DejaVu Sans"/>
                        </a:rPr>
                        <a:t>Direct process</a:t>
                      </a:r>
                    </a:p>
                    <a:p>
                      <a:r>
                        <a:rPr sz="1725" b="0">
                          <a:solidFill>
                            <a:srgbClr val="172D3B"/>
                          </a:solidFill>
                          <a:latin typeface="DejaVu Sans"/>
                          <a:ea typeface="DejaVu Sans"/>
                          <a:cs typeface="DejaVu Sans"/>
                        </a:rPr>
                        <a:t>Existential collection</a:t>
                      </a:r>
                    </a:p>
                    <a:p>
                      <a:r>
                        <a:rPr sz="1725" b="0">
                          <a:solidFill>
                            <a:srgbClr val="172D3B"/>
                          </a:solidFill>
                          <a:latin typeface="DejaVu Sans"/>
                          <a:ea typeface="DejaVu Sans"/>
                          <a:cs typeface="DejaVu Sans"/>
                        </a:rPr>
                        <a:t>Existential TYSP</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Inconsistent. Each requires a stroke instance.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762000">
                <a:tc>
                  <a:txBody>
                    <a:bodyPr wrap="square">
                      <a:noAutofit/>
                    </a:bodyPr>
                    <a:lstStyle/>
                    <a:p>
                      <a:r>
                        <a:rPr sz="1725" b="0">
                          <a:solidFill>
                            <a:srgbClr val="172D3B"/>
                          </a:solidFill>
                          <a:latin typeface="DejaVu Sans"/>
                          <a:ea typeface="DejaVu Sans"/>
                          <a:cs typeface="DejaVu Sans"/>
                        </a:rPr>
                        <a:t>Separate named object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Consistent. risk1 is IncreasedRiskOfStroke</a:t>
                      </a:r>
                    </a:p>
                    <a:p>
                      <a:r>
                        <a:rPr sz="1725" b="0">
                          <a:solidFill>
                            <a:srgbClr val="172D3B"/>
                          </a:solidFill>
                          <a:latin typeface="DejaVu Sans"/>
                          <a:ea typeface="DejaVu Sans"/>
                          <a:cs typeface="DejaVu Sans"/>
                        </a:rPr>
                        <a:t>and retains a positive reference.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685800">
                <a:tc>
                  <a:txBody>
                    <a:bodyPr wrap="square">
                      <a:noAutofit/>
                    </a:bodyPr>
                    <a:lstStyle/>
                    <a:p>
                      <a:r>
                        <a:rPr sz="1725" b="0">
                          <a:solidFill>
                            <a:srgbClr val="172D3B"/>
                          </a:solidFill>
                          <a:latin typeface="DejaVu Sans"/>
                          <a:ea typeface="DejaVu Sans"/>
                          <a:cs typeface="DejaVu Sans"/>
                        </a:rPr>
                        <a:t>Closed universal</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725" b="0">
                          <a:solidFill>
                            <a:srgbClr val="172D3B"/>
                          </a:solidFill>
                          <a:latin typeface="DejaVu Sans"/>
                          <a:ea typeface="DejaVu Sans"/>
                          <a:cs typeface="DejaVu Sans"/>
                        </a:rPr>
                        <a:t>Consistent. risk1 has no reference successors.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762000">
                <a:tc>
                  <a:txBody>
                    <a:bodyPr wrap="square">
                      <a:noAutofit/>
                    </a:bodyPr>
                    <a:lstStyle/>
                    <a:p>
                      <a:r>
                        <a:rPr sz="1725" b="0">
                          <a:solidFill>
                            <a:srgbClr val="172D3B"/>
                          </a:solidFill>
                          <a:latin typeface="DejaVu Sans"/>
                          <a:ea typeface="DejaVu Sans"/>
                          <a:cs typeface="DejaVu Sans"/>
                        </a:rPr>
                        <a:t>Inline universal</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725" b="0">
                          <a:solidFill>
                            <a:srgbClr val="172D3B"/>
                          </a:solidFill>
                          <a:latin typeface="DejaVu Sans"/>
                          <a:ea typeface="DejaVu Sans"/>
                          <a:cs typeface="DejaVu Sans"/>
                        </a:rPr>
                        <a:t>Consistent. risk1 also becomes</a:t>
                      </a:r>
                    </a:p>
                    <a:p>
                      <a:r>
                        <a:rPr sz="1725" b="0">
                          <a:solidFill>
                            <a:srgbClr val="172D3B"/>
                          </a:solidFill>
                          <a:latin typeface="DejaVu Sans"/>
                          <a:ea typeface="DejaVu Sans"/>
                          <a:cs typeface="DejaVu Sans"/>
                        </a:rPr>
                        <a:t>IncreasedRiskOfFracture.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bl>
          </a:graphicData>
        </a:graphic>
      </p:graphicFrame>
      <p:sp>
        <p:nvSpPr>
          <p:cNvPr id="12" name="assessment-evidence">
            <a:extLst xmlns:a="http://schemas.openxmlformats.org/drawingml/2006/main">
              <a:ext uri="{FF2B5EF4-FFF2-40B4-BE49-F238E27FC236}">
                <a16:creationId xmlns:a16="http://schemas.microsoft.com/office/drawing/2014/main" id="{B1EE9B6B-81ED-47B2-A546-011AD1443587}"/>
              </a:ext>
            </a:extLst>
          </p:cNvPr>
          <p:cNvSpPr>
            <a:spLocks xmlns:a="http://schemas.openxmlformats.org/drawingml/2006/main" noGrp="1"/>
          </p:cNvSpPr>
          <p:nvPr/>
        </p:nvSpPr>
        <p:spPr>
          <a:xfrm xmlns:a="http://schemas.openxmlformats.org/drawingml/2006/main">
            <a:off x="609600" y="6019800"/>
            <a:ext cx="1062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66673"/>
                </a:solidFill>
                <a:latin typeface="DejaVu Sans"/>
                <a:ea typeface="DejaVu Sans"/>
                <a:cs typeface="DejaVu Sans"/>
              </a:defRPr>
            </a:defPPr>
          </a:lstStyle>
          <a:p xmlns:a="http://schemas.openxmlformats.org/drawingml/2006/main">
            <a:pPr algn="l">
              <a:defRPr sz="1575" b="0">
                <a:solidFill>
                  <a:srgbClr val="566673"/>
                </a:solidFill>
                <a:latin typeface="DejaVu Sans"/>
                <a:ea typeface="DejaVu Sans"/>
                <a:cs typeface="DejaVu Sans"/>
              </a:defRPr>
            </a:pPr>
            <a:r>
              <a:rPr sz="1575" b="0">
                <a:solidFill>
                  <a:srgbClr val="566673"/>
                </a:solidFill>
                <a:latin typeface="DejaVu Sans"/>
                <a:ea typeface="DejaVu Sans"/>
                <a:cs typeface="DejaVu Sans"/>
              </a:rPr>
              <a:t>200/200 expected outcomes: 40 consistency, 138 entailment, 22 satisfiability checks.</a:t>
            </a:r>
          </a:p>
          <a:p xmlns:a="http://schemas.openxmlformats.org/drawingml/2006/main">
            <a:pPr algn="l">
              <a:defRPr sz="1575" b="0">
                <a:solidFill>
                  <a:srgbClr val="566673"/>
                </a:solidFill>
                <a:latin typeface="DejaVu Sans"/>
                <a:ea typeface="DejaVu Sans"/>
                <a:cs typeface="DejaVu Sans"/>
              </a:defRPr>
            </a:pPr>
            <a:r>
              <a:rPr sz="1575" b="0">
                <a:solidFill>
                  <a:srgbClr val="566673"/>
                </a:solidFill>
                <a:latin typeface="DejaVu Sans"/>
                <a:ea typeface="DejaVu Sans"/>
                <a:cs typeface="DejaVu Sans"/>
              </a:rPr>
              <a:t>20 examples in two formats. Selected SULO axioms with feature-level reference.</a:t>
            </a:r>
          </a:p>
        </p:txBody>
      </p:sp>
    </p:spTree>
    <p:extLst>
      <p:ext uri="{BB962C8B-B14F-4D97-AF65-F5344CB8AC3E}">
        <p14:creationId xmlns:p14="http://schemas.microsoft.com/office/powerpoint/2010/main" val="1922310990"/>
      </p:ext>
    </p:extLst>
  </p:cSld>
</p:sld>
</file>

<file path=ppt/slides/slide15.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9FFF9F4-8A20-4738-87BE-455074A1E2B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Risk, numerical estimate and realization</a:t>
            </a:r>
          </a:p>
        </p:txBody>
      </p:sp>
      <p:sp>
        <p:nvSpPr>
          <p:cNvPr id="2" name="slide-number">
            <a:extLst xmlns:a="http://schemas.openxmlformats.org/drawingml/2006/main">
              <a:ext uri="{FF2B5EF4-FFF2-40B4-BE49-F238E27FC236}">
                <a16:creationId xmlns:a16="http://schemas.microsoft.com/office/drawing/2014/main" id="{F81A866B-0CC3-4D68-8372-AF69CEDD2F36}"/>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15</a:t>
            </a:r>
          </a:p>
        </p:txBody>
      </p:sp>
      <p:graphicFrame>
        <p:nvGraphicFramePr>
          <p:cNvPr id="3" name="">
            <a:extLst xmlns:a="http://schemas.openxmlformats.org/drawingml/2006/main">
              <a:ext uri="{FF2B5EF4-FFF2-40B4-BE49-F238E27FC236}">
                <a16:creationId xmlns:a16="http://schemas.microsoft.com/office/drawing/2014/main" id="{92EEDC0F-536E-4657-B7B9-62F312732BF2}"/>
              </a:ext>
            </a:extLst>
          </p:cNvPr>
          <p:cNvGraphicFramePr/>
          <p:nvPr/>
        </p:nvGraphicFramePr>
        <p:xfrm>
          <a:off xmlns:a="http://schemas.openxmlformats.org/drawingml/2006/main" x="609600" y="1562100"/>
          <a:ext xmlns:a="http://schemas.openxmlformats.org/drawingml/2006/main" cx="10972800" cy="3190875"/>
        </p:xfrm>
        <a:graphic xmlns:a="http://schemas.openxmlformats.org/drawingml/2006/main">
          <a:graphicData uri="http://schemas.openxmlformats.org/drawingml/2006/table">
            <a:tbl>
              <a:tblPr firstRow="0" bandRow="0"/>
              <a:tblGrid>
                <a:gridCol w="2381250"/>
                <a:gridCol w="3286125"/>
                <a:gridCol w="5305425"/>
              </a:tblGrid>
              <a:tr h="581025">
                <a:tc>
                  <a:txBody>
                    <a:bodyPr wrap="square">
                      <a:noAutofit/>
                    </a:bodyPr>
                    <a:lstStyle/>
                    <a:p>
                      <a:r>
                        <a:rPr sz="1800" b="1">
                          <a:solidFill>
                            <a:srgbClr val="FFFFFF"/>
                          </a:solidFill>
                          <a:latin typeface="DejaVu Sans"/>
                          <a:ea typeface="DejaVu Sans"/>
                          <a:cs typeface="DejaVu Sans"/>
                        </a:rPr>
                        <a:t>Entity</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Category</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Example assertion</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828675">
                <a:tc>
                  <a:txBody>
                    <a:bodyPr wrap="square">
                      <a:noAutofit/>
                    </a:bodyPr>
                    <a:lstStyle/>
                    <a:p>
                      <a:r>
                        <a:rPr sz="1875" b="0">
                          <a:solidFill>
                            <a:srgbClr val="172D3B"/>
                          </a:solidFill>
                          <a:latin typeface="DejaVu Sans"/>
                          <a:ea typeface="DejaVu Sans"/>
                          <a:cs typeface="DejaVu Sans"/>
                        </a:rPr>
                        <a:t>risk1</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Quality</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isFeatureOf x</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952500">
                <a:tc>
                  <a:txBody>
                    <a:bodyPr wrap="square">
                      <a:noAutofit/>
                    </a:bodyPr>
                    <a:lstStyle/>
                    <a:p>
                      <a:r>
                        <a:rPr sz="1875" b="0">
                          <a:solidFill>
                            <a:srgbClr val="172D3B"/>
                          </a:solidFill>
                          <a:latin typeface="DejaVu Sans"/>
                          <a:ea typeface="DejaVu Sans"/>
                          <a:cs typeface="DejaVu Sans"/>
                        </a:rPr>
                        <a:t>probability1</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Quantity /</a:t>
                      </a:r>
                    </a:p>
                    <a:p>
                      <a:r>
                        <a:rPr sz="1875" b="0">
                          <a:solidFill>
                            <a:srgbClr val="172D3B"/>
                          </a:solidFill>
                          <a:latin typeface="DejaVu Sans"/>
                          <a:ea typeface="DejaVu Sans"/>
                          <a:cs typeface="DejaVu Sans"/>
                        </a:rPr>
                        <a:t>InformationObject</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hasValue 30.0</a:t>
                      </a:r>
                    </a:p>
                    <a:p>
                      <a:r>
                        <a:rPr sz="1875" b="0">
                          <a:solidFill>
                            <a:srgbClr val="172D3B"/>
                          </a:solidFill>
                          <a:latin typeface="DejaVu Sans"/>
                          <a:ea typeface="DejaVu Sans"/>
                          <a:cs typeface="DejaVu Sans"/>
                        </a:rPr>
                        <a:t>hasPart percent</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828675">
                <a:tc>
                  <a:txBody>
                    <a:bodyPr wrap="square">
                      <a:noAutofit/>
                    </a:bodyPr>
                    <a:lstStyle/>
                    <a:p>
                      <a:r>
                        <a:rPr sz="1875" b="0">
                          <a:solidFill>
                            <a:srgbClr val="172D3B"/>
                          </a:solidFill>
                          <a:latin typeface="DejaVu Sans"/>
                          <a:ea typeface="DejaVu Sans"/>
                          <a:cs typeface="DejaVu Sans"/>
                        </a:rPr>
                        <a:t>strokeEpisode1</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Process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hasParticipant risk1</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bl>
          </a:graphicData>
        </a:graphic>
      </p:graphicFrame>
      <p:sp>
        <p:nvSpPr>
          <p:cNvPr id="4" name="realization-sentence">
            <a:extLst xmlns:a="http://schemas.openxmlformats.org/drawingml/2006/main">
              <a:ext uri="{FF2B5EF4-FFF2-40B4-BE49-F238E27FC236}">
                <a16:creationId xmlns:a16="http://schemas.microsoft.com/office/drawing/2014/main" id="{6B4F1927-CFEA-4057-BC15-BEE1F4752CD5}"/>
              </a:ext>
            </a:extLst>
          </p:cNvPr>
          <p:cNvSpPr>
            <a:spLocks xmlns:a="http://schemas.openxmlformats.org/drawingml/2006/main" noGrp="1"/>
          </p:cNvSpPr>
          <p:nvPr/>
        </p:nvSpPr>
        <p:spPr>
          <a:xfrm xmlns:a="http://schemas.openxmlformats.org/drawingml/2006/main">
            <a:off x="609600" y="5219700"/>
            <a:ext cx="1085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006C70"/>
                </a:solidFill>
                <a:latin typeface="DejaVu Sans"/>
                <a:ea typeface="DejaVu Sans"/>
                <a:cs typeface="DejaVu Sans"/>
              </a:defRPr>
            </a:defPPr>
          </a:lstStyle>
          <a:p xmlns:a="http://schemas.openxmlformats.org/drawingml/2006/main">
            <a:pPr algn="l">
              <a:buNone/>
              <a:defRPr sz="2325" b="1">
                <a:solidFill>
                  <a:srgbClr val="006C70"/>
                </a:solidFill>
                <a:latin typeface="DejaVu Sans"/>
                <a:ea typeface="DejaVu Sans"/>
                <a:cs typeface="DejaVu Sans"/>
              </a:defRPr>
            </a:pPr>
            <a:r>
              <a:rPr sz="2325" b="1">
                <a:solidFill>
                  <a:srgbClr val="006C70"/>
                </a:solidFill>
                <a:latin typeface="DejaVu Sans"/>
                <a:ea typeface="DejaVu Sans"/>
                <a:cs typeface="DejaVu Sans"/>
              </a:rPr>
              <a:t>Participation constitutes realization in the actual process.</a:t>
            </a:r>
          </a:p>
        </p:txBody>
      </p:sp>
      <p:sp>
        <p:nvSpPr>
          <p:cNvPr id="5" name="probability-scope">
            <a:extLst xmlns:a="http://schemas.openxmlformats.org/drawingml/2006/main">
              <a:ext uri="{FF2B5EF4-FFF2-40B4-BE49-F238E27FC236}">
                <a16:creationId xmlns:a16="http://schemas.microsoft.com/office/drawing/2014/main" id="{C78753C1-89F2-4B3C-AAEA-1A648BEC2028}"/>
              </a:ext>
            </a:extLst>
          </p:cNvPr>
          <p:cNvSpPr>
            <a:spLocks xmlns:a="http://schemas.openxmlformats.org/drawingml/2006/main" noGrp="1"/>
          </p:cNvSpPr>
          <p:nvPr/>
        </p:nvSpPr>
        <p:spPr>
          <a:xfrm xmlns:a="http://schemas.openxmlformats.org/drawingml/2006/main">
            <a:off x="609600" y="5953125"/>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66673"/>
                </a:solidFill>
                <a:latin typeface="DejaVu Sans"/>
                <a:ea typeface="DejaVu Sans"/>
                <a:cs typeface="DejaVu Sans"/>
              </a:defRPr>
            </a:defPPr>
          </a:lstStyle>
          <a:p xmlns:a="http://schemas.openxmlformats.org/drawingml/2006/main">
            <a:pPr algn="l">
              <a:buNone/>
              <a:defRPr sz="1800" b="0">
                <a:solidFill>
                  <a:srgbClr val="566673"/>
                </a:solidFill>
                <a:latin typeface="DejaVu Sans"/>
                <a:ea typeface="DejaVu Sans"/>
                <a:cs typeface="DejaVu Sans"/>
              </a:defRPr>
            </a:pPr>
            <a:r>
              <a:rPr sz="1800" b="0">
                <a:solidFill>
                  <a:srgbClr val="566673"/>
                </a:solidFill>
                <a:latin typeface="DejaVu Sans"/>
                <a:ea typeface="DejaVu Sans"/>
                <a:cs typeface="DejaVu Sans"/>
              </a:rPr>
              <a:t>The numerical value and increased status are illustrative assertions.</a:t>
            </a:r>
          </a:p>
        </p:txBody>
      </p:sp>
    </p:spTree>
    <p:extLst>
      <p:ext uri="{BB962C8B-B14F-4D97-AF65-F5344CB8AC3E}">
        <p14:creationId xmlns:p14="http://schemas.microsoft.com/office/powerpoint/2010/main" val="1533480009"/>
      </p:ext>
    </p:extLst>
  </p:cSld>
</p:sld>
</file>

<file path=ppt/slides/slide16.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FD921D8-BDE8-4BDD-A445-BAF4D493643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Optional classification bridges</a:t>
            </a:r>
          </a:p>
        </p:txBody>
      </p:sp>
      <p:sp>
        <p:nvSpPr>
          <p:cNvPr id="2" name="slide-number">
            <a:extLst xmlns:a="http://schemas.openxmlformats.org/drawingml/2006/main">
              <a:ext uri="{FF2B5EF4-FFF2-40B4-BE49-F238E27FC236}">
                <a16:creationId xmlns:a16="http://schemas.microsoft.com/office/drawing/2014/main" id="{FFDB6C0C-21A0-4467-8CA9-7ABB131B17CF}"/>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16</a:t>
            </a:r>
          </a:p>
        </p:txBody>
      </p:sp>
      <p:sp>
        <p:nvSpPr>
          <p:cNvPr id="3" name="gci-label">
            <a:extLst xmlns:a="http://schemas.openxmlformats.org/drawingml/2006/main">
              <a:ext uri="{FF2B5EF4-FFF2-40B4-BE49-F238E27FC236}">
                <a16:creationId xmlns:a16="http://schemas.microsoft.com/office/drawing/2014/main" id="{79994FF8-8C5D-489B-8DDF-8CC9CC943FCA}"/>
              </a:ext>
            </a:extLst>
          </p:cNvPr>
          <p:cNvSpPr>
            <a:spLocks xmlns:a="http://schemas.openxmlformats.org/drawingml/2006/main" noGrp="1"/>
          </p:cNvSpPr>
          <p:nvPr/>
        </p:nvSpPr>
        <p:spPr>
          <a:xfrm xmlns:a="http://schemas.openxmlformats.org/drawingml/2006/main">
            <a:off x="609600" y="1552575"/>
            <a:ext cx="695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D3B"/>
                </a:solidFill>
                <a:latin typeface="DejaVu Sans"/>
                <a:ea typeface="DejaVu Sans"/>
                <a:cs typeface="DejaVu Sans"/>
              </a:defRPr>
            </a:defPPr>
          </a:lstStyle>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From direct instance reference</a:t>
            </a:r>
          </a:p>
        </p:txBody>
      </p:sp>
      <p:sp>
        <p:nvSpPr>
          <p:cNvPr id="4" name="gci-code">
            <a:extLst xmlns:a="http://schemas.openxmlformats.org/drawingml/2006/main">
              <a:ext uri="{FF2B5EF4-FFF2-40B4-BE49-F238E27FC236}">
                <a16:creationId xmlns:a16="http://schemas.microsoft.com/office/drawing/2014/main" id="{0D7F1AC0-2951-4A7E-9F48-A147841650E6}"/>
              </a:ext>
            </a:extLst>
          </p:cNvPr>
          <p:cNvSpPr>
            <a:spLocks xmlns:a="http://schemas.openxmlformats.org/drawingml/2006/main" noGrp="1"/>
          </p:cNvSpPr>
          <p:nvPr/>
        </p:nvSpPr>
        <p:spPr>
          <a:xfrm xmlns:a="http://schemas.openxmlformats.org/drawingml/2006/main">
            <a:off x="609600" y="2190750"/>
            <a:ext cx="714375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06C70"/>
                </a:solidFill>
                <a:latin typeface="DejaVu Sans Mono"/>
                <a:ea typeface="DejaVu Sans Mono"/>
                <a:cs typeface="DejaVu Sans Mono"/>
              </a:defRPr>
            </a:defPPr>
          </a:lstStyle>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Class: IncreasedRiskReferringToStroke</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EquivalentTo:</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IncreasedRisk and</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refersTo some Stroke</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SubClassOf: IncreasedRiskOfStroke</a:t>
            </a:r>
          </a:p>
        </p:txBody>
      </p:sp>
      <p:sp>
        <p:nvSpPr>
          <p:cNvPr id="5" name="hierarchy-label">
            <a:extLst xmlns:a="http://schemas.openxmlformats.org/drawingml/2006/main">
              <a:ext uri="{FF2B5EF4-FFF2-40B4-BE49-F238E27FC236}">
                <a16:creationId xmlns:a16="http://schemas.microsoft.com/office/drawing/2014/main" id="{CD21B5B6-B8C3-4939-9379-812203CF5DBF}"/>
              </a:ext>
            </a:extLst>
          </p:cNvPr>
          <p:cNvSpPr>
            <a:spLocks xmlns:a="http://schemas.openxmlformats.org/drawingml/2006/main" noGrp="1"/>
          </p:cNvSpPr>
          <p:nvPr/>
        </p:nvSpPr>
        <p:spPr>
          <a:xfrm xmlns:a="http://schemas.openxmlformats.org/drawingml/2006/main">
            <a:off x="8039100" y="1552575"/>
            <a:ext cx="35433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2D3B"/>
                </a:solidFill>
                <a:latin typeface="DejaVu Sans"/>
                <a:ea typeface="DejaVu Sans"/>
                <a:cs typeface="DejaVu Sans"/>
              </a:defRPr>
            </a:defPPr>
          </a:lstStyle>
          <a:p xmlns:a="http://schemas.openxmlformats.org/drawingml/2006/main">
            <a:pPr algn="l">
              <a:buNone/>
              <a:defRPr sz="2100" b="1">
                <a:solidFill>
                  <a:srgbClr val="172D3B"/>
                </a:solidFill>
                <a:latin typeface="DejaVu Sans"/>
                <a:ea typeface="DejaVu Sans"/>
                <a:cs typeface="DejaVu Sans"/>
              </a:defRPr>
            </a:pPr>
            <a:r>
              <a:rPr sz="2100" b="1">
                <a:solidFill>
                  <a:srgbClr val="172D3B"/>
                </a:solidFill>
                <a:latin typeface="DejaVu Sans"/>
                <a:ea typeface="DejaVu Sans"/>
                <a:cs typeface="DejaVu Sans"/>
              </a:rPr>
              <a:t>Across target hierarchies</a:t>
            </a:r>
          </a:p>
        </p:txBody>
      </p:sp>
      <p:sp>
        <p:nvSpPr>
          <p:cNvPr id="6" name="hierarchy-code">
            <a:extLst xmlns:a="http://schemas.openxmlformats.org/drawingml/2006/main">
              <a:ext uri="{FF2B5EF4-FFF2-40B4-BE49-F238E27FC236}">
                <a16:creationId xmlns:a16="http://schemas.microsoft.com/office/drawing/2014/main" id="{10D52799-56AC-4E5F-A7C3-AEC7D7D87A21}"/>
              </a:ext>
            </a:extLst>
          </p:cNvPr>
          <p:cNvSpPr>
            <a:spLocks xmlns:a="http://schemas.openxmlformats.org/drawingml/2006/main" noGrp="1"/>
          </p:cNvSpPr>
          <p:nvPr/>
        </p:nvSpPr>
        <p:spPr>
          <a:xfrm xmlns:a="http://schemas.openxmlformats.org/drawingml/2006/main">
            <a:off x="8039100" y="2628900"/>
            <a:ext cx="3543300" cy="1495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06C70"/>
                </a:solidFill>
                <a:latin typeface="DejaVu Sans Mono"/>
                <a:ea typeface="DejaVu Sans Mono"/>
                <a:cs typeface="DejaVu Sans Mono"/>
              </a:defRPr>
            </a:defPPr>
          </a:lstStyle>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Class: RiskOfStroke</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SubClassOf:</a:t>
            </a:r>
          </a:p>
          <a:p xmlns:a="http://schemas.openxmlformats.org/drawingml/2006/main">
            <a:pPr algn="l">
              <a:buNone/>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RiskOfVascularEvent</a:t>
            </a:r>
          </a:p>
        </p:txBody>
      </p:sp>
      <p:sp>
        <p:nvSpPr>
          <p:cNvPr id="7" name="bridge-warning">
            <a:extLst xmlns:a="http://schemas.openxmlformats.org/drawingml/2006/main">
              <a:ext uri="{FF2B5EF4-FFF2-40B4-BE49-F238E27FC236}">
                <a16:creationId xmlns:a16="http://schemas.microsoft.com/office/drawing/2014/main" id="{2F5DAA49-88B0-4779-94B2-AC638F568D94}"/>
              </a:ext>
            </a:extLst>
          </p:cNvPr>
          <p:cNvSpPr>
            <a:spLocks xmlns:a="http://schemas.openxmlformats.org/drawingml/2006/main" noGrp="1"/>
          </p:cNvSpPr>
          <p:nvPr/>
        </p:nvSpPr>
        <p:spPr>
          <a:xfrm xmlns:a="http://schemas.openxmlformats.org/drawingml/2006/main">
            <a:off x="609600" y="5181600"/>
            <a:ext cx="10858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A3422E"/>
                </a:solidFill>
                <a:latin typeface="DejaVu Sans"/>
                <a:ea typeface="DejaVu Sans"/>
                <a:cs typeface="DejaVu Sans"/>
              </a:defRPr>
            </a:defPPr>
          </a:lstStyle>
          <a:p xmlns:a="http://schemas.openxmlformats.org/drawingml/2006/main">
            <a:pPr algn="l">
              <a:buNone/>
              <a:defRPr sz="2250" b="1">
                <a:solidFill>
                  <a:srgbClr val="A3422E"/>
                </a:solidFill>
                <a:latin typeface="DejaVu Sans"/>
                <a:ea typeface="DejaVu Sans"/>
                <a:cs typeface="DejaVu Sans"/>
              </a:defRPr>
            </a:pPr>
            <a:r>
              <a:rPr sz="2250" b="1">
                <a:solidFill>
                  <a:srgbClr val="A3422E"/>
                </a:solidFill>
                <a:latin typeface="DejaVu Sans"/>
                <a:ea typeface="DejaVu Sans"/>
                <a:cs typeface="DejaVu Sans"/>
              </a:rPr>
              <a:t>Each bridge adds a modelling policy and can entail new reference edges.</a:t>
            </a:r>
          </a:p>
        </p:txBody>
      </p:sp>
    </p:spTree>
    <p:extLst>
      <p:ext uri="{BB962C8B-B14F-4D97-AF65-F5344CB8AC3E}">
        <p14:creationId xmlns:p14="http://schemas.microsoft.com/office/powerpoint/2010/main" val="1991009011"/>
      </p:ext>
    </p:extLst>
  </p:cSld>
</p:sld>
</file>

<file path=ppt/slides/slide17.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5555969A-8E67-45C4-8725-B3FCCEC63745}"/>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SULO integration</a:t>
            </a:r>
          </a:p>
        </p:txBody>
      </p:sp>
      <p:sp>
        <p:nvSpPr>
          <p:cNvPr id="2" name="slide-number">
            <a:extLst xmlns:a="http://schemas.openxmlformats.org/drawingml/2006/main">
              <a:ext uri="{FF2B5EF4-FFF2-40B4-BE49-F238E27FC236}">
                <a16:creationId xmlns:a16="http://schemas.microsoft.com/office/drawing/2014/main" id="{0988E937-052F-487B-8AF6-7E5C79B48277}"/>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17</a:t>
            </a:r>
          </a:p>
        </p:txBody>
      </p:sp>
      <p:sp>
        <p:nvSpPr>
          <p:cNvPr id="3" name="domain-change">
            <a:extLst xmlns:a="http://schemas.openxmlformats.org/drawingml/2006/main">
              <a:ext uri="{FF2B5EF4-FFF2-40B4-BE49-F238E27FC236}">
                <a16:creationId xmlns:a16="http://schemas.microsoft.com/office/drawing/2014/main" id="{F6641E4A-D9D2-4061-A976-D8108E3121F2}"/>
              </a:ext>
            </a:extLst>
          </p:cNvPr>
          <p:cNvSpPr>
            <a:spLocks xmlns:a="http://schemas.openxmlformats.org/drawingml/2006/main" noGrp="1"/>
          </p:cNvSpPr>
          <p:nvPr/>
        </p:nvSpPr>
        <p:spPr>
          <a:xfrm xmlns:a="http://schemas.openxmlformats.org/drawingml/2006/main">
            <a:off x="609600" y="1714500"/>
            <a:ext cx="67627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6C70"/>
                </a:solidFill>
                <a:latin typeface="DejaVu Sans Mono"/>
                <a:ea typeface="DejaVu Sans Mono"/>
                <a:cs typeface="DejaVu Sans Mono"/>
              </a:defRPr>
            </a:defPPr>
          </a:lstStyle>
          <a:p xmlns:a="http://schemas.openxmlformats.org/drawingml/2006/main">
            <a:pPr algn="l">
              <a:buNone/>
              <a:defRPr sz="1950" b="0">
                <a:solidFill>
                  <a:srgbClr val="006C70"/>
                </a:solidFill>
                <a:latin typeface="DejaVu Sans Mono"/>
                <a:ea typeface="DejaVu Sans Mono"/>
                <a:cs typeface="DejaVu Sans Mono"/>
              </a:defRPr>
            </a:pPr>
            <a:r>
              <a:rPr sz="1950" b="0">
                <a:solidFill>
                  <a:srgbClr val="006C70"/>
                </a:solidFill>
                <a:latin typeface="DejaVu Sans Mono"/>
                <a:ea typeface="DejaVu Sans Mono"/>
                <a:cs typeface="DejaVu Sans Mono"/>
              </a:rPr>
              <a:t>ObjectProperty: refersTo</a:t>
            </a:r>
          </a:p>
          <a:p xmlns:a="http://schemas.openxmlformats.org/drawingml/2006/main">
            <a:pPr algn="l">
              <a:buNone/>
              <a:defRPr sz="1950" b="0">
                <a:solidFill>
                  <a:srgbClr val="006C70"/>
                </a:solidFill>
                <a:latin typeface="DejaVu Sans Mono"/>
                <a:ea typeface="DejaVu Sans Mono"/>
                <a:cs typeface="DejaVu Sans Mono"/>
              </a:defRPr>
            </a:pPr>
            <a:r>
              <a:rPr sz="1950" b="0">
                <a:solidFill>
                  <a:srgbClr val="006C70"/>
                </a:solidFill>
                <a:latin typeface="DejaVu Sans Mono"/>
                <a:ea typeface="DejaVu Sans Mono"/>
                <a:cs typeface="DejaVu Sans Mono"/>
              </a:rPr>
              <a:t>  Domain: Feature</a:t>
            </a:r>
          </a:p>
          <a:p xmlns:a="http://schemas.openxmlformats.org/drawingml/2006/main">
            <a:r>
              <a:t/>
            </a:r>
          </a:p>
          <a:p xmlns:a="http://schemas.openxmlformats.org/drawingml/2006/main">
            <a:pPr algn="l">
              <a:buNone/>
              <a:defRPr sz="1950" b="0">
                <a:solidFill>
                  <a:srgbClr val="006C70"/>
                </a:solidFill>
                <a:latin typeface="DejaVu Sans Mono"/>
                <a:ea typeface="DejaVu Sans Mono"/>
                <a:cs typeface="DejaVu Sans Mono"/>
              </a:defRPr>
            </a:pPr>
            <a:r>
              <a:rPr sz="1950" b="0">
                <a:solidFill>
                  <a:srgbClr val="006C70"/>
                </a:solidFill>
                <a:latin typeface="DejaVu Sans Mono"/>
                <a:ea typeface="DejaVu Sans Mono"/>
                <a:cs typeface="DejaVu Sans Mono"/>
              </a:rPr>
              <a:t>ObjectProperty: isReferredToIn</a:t>
            </a:r>
          </a:p>
          <a:p xmlns:a="http://schemas.openxmlformats.org/drawingml/2006/main">
            <a:pPr algn="l">
              <a:buNone/>
              <a:defRPr sz="1950" b="0">
                <a:solidFill>
                  <a:srgbClr val="006C70"/>
                </a:solidFill>
                <a:latin typeface="DejaVu Sans Mono"/>
                <a:ea typeface="DejaVu Sans Mono"/>
                <a:cs typeface="DejaVu Sans Mono"/>
              </a:defRPr>
            </a:pPr>
            <a:r>
              <a:rPr sz="1950" b="0">
                <a:solidFill>
                  <a:srgbClr val="006C70"/>
                </a:solidFill>
                <a:latin typeface="DejaVu Sans Mono"/>
                <a:ea typeface="DejaVu Sans Mono"/>
                <a:cs typeface="DejaVu Sans Mono"/>
              </a:rPr>
              <a:t>  Range: Feature</a:t>
            </a:r>
          </a:p>
        </p:txBody>
      </p:sp>
      <p:sp>
        <p:nvSpPr>
          <p:cNvPr id="4" name="domain-explanation">
            <a:extLst xmlns:a="http://schemas.openxmlformats.org/drawingml/2006/main">
              <a:ext uri="{FF2B5EF4-FFF2-40B4-BE49-F238E27FC236}">
                <a16:creationId xmlns:a16="http://schemas.microsoft.com/office/drawing/2014/main" id="{FB38DB3F-FEAE-45A3-9297-9730468A3D32}"/>
              </a:ext>
            </a:extLst>
          </p:cNvPr>
          <p:cNvSpPr>
            <a:spLocks xmlns:a="http://schemas.openxmlformats.org/drawingml/2006/main" noGrp="1"/>
          </p:cNvSpPr>
          <p:nvPr/>
        </p:nvSpPr>
        <p:spPr>
          <a:xfrm xmlns:a="http://schemas.openxmlformats.org/drawingml/2006/main">
            <a:off x="7762875" y="1838325"/>
            <a:ext cx="37909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A3422E"/>
                </a:solidFill>
                <a:latin typeface="DejaVu Sans"/>
                <a:ea typeface="DejaVu Sans"/>
                <a:cs typeface="DejaVu Sans"/>
              </a:defRPr>
            </a:defPPr>
          </a:lstStyle>
          <a:p xmlns:a="http://schemas.openxmlformats.org/drawingml/2006/main">
            <a:pPr algn="l">
              <a:buNone/>
              <a:defRPr sz="2175" b="1">
                <a:solidFill>
                  <a:srgbClr val="A3422E"/>
                </a:solidFill>
                <a:latin typeface="DejaVu Sans"/>
                <a:ea typeface="DejaVu Sans"/>
                <a:cs typeface="DejaVu Sans"/>
              </a:defRPr>
            </a:pPr>
            <a:r>
              <a:rPr sz="2175" b="1">
                <a:solidFill>
                  <a:srgbClr val="A3422E"/>
                </a:solidFill>
                <a:latin typeface="DejaVu Sans"/>
                <a:ea typeface="DejaVu Sans"/>
                <a:cs typeface="DejaVu Sans"/>
              </a:rPr>
              <a:t>Replace both original</a:t>
            </a:r>
          </a:p>
          <a:p xmlns:a="http://schemas.openxmlformats.org/drawingml/2006/main">
            <a:pPr algn="l">
              <a:buNone/>
              <a:defRPr sz="2175" b="1">
                <a:solidFill>
                  <a:srgbClr val="A3422E"/>
                </a:solidFill>
                <a:latin typeface="DejaVu Sans"/>
                <a:ea typeface="DejaVu Sans"/>
                <a:cs typeface="DejaVu Sans"/>
              </a:defRPr>
            </a:pPr>
            <a:r>
              <a:rPr sz="2175" b="1">
                <a:solidFill>
                  <a:srgbClr val="A3422E"/>
                </a:solidFill>
                <a:latin typeface="DejaVu Sans"/>
                <a:ea typeface="DejaVu Sans"/>
                <a:cs typeface="DejaVu Sans"/>
              </a:rPr>
              <a:t>InformationObject constraints.</a:t>
            </a:r>
          </a:p>
        </p:txBody>
      </p:sp>
      <p:sp>
        <p:nvSpPr>
          <p:cNvPr id="5" name="domain-meaning">
            <a:extLst xmlns:a="http://schemas.openxmlformats.org/drawingml/2006/main">
              <a:ext uri="{FF2B5EF4-FFF2-40B4-BE49-F238E27FC236}">
                <a16:creationId xmlns:a16="http://schemas.microsoft.com/office/drawing/2014/main" id="{F39588D8-62BA-4B41-9160-22D86655A5F5}"/>
              </a:ext>
            </a:extLst>
          </p:cNvPr>
          <p:cNvSpPr>
            <a:spLocks xmlns:a="http://schemas.openxmlformats.org/drawingml/2006/main" noGrp="1"/>
          </p:cNvSpPr>
          <p:nvPr/>
        </p:nvSpPr>
        <p:spPr>
          <a:xfrm xmlns:a="http://schemas.openxmlformats.org/drawingml/2006/main">
            <a:off x="7762875" y="3714750"/>
            <a:ext cx="3790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2D3B"/>
                </a:solidFill>
                <a:latin typeface="DejaVu Sans"/>
                <a:ea typeface="DejaVu Sans"/>
                <a:cs typeface="DejaVu Sans"/>
              </a:defRPr>
            </a:defPPr>
          </a:lstStyle>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Quality and InformationObject</a:t>
            </a:r>
          </a:p>
          <a:p xmlns:a="http://schemas.openxmlformats.org/drawingml/2006/main">
            <a:pPr algn="l">
              <a:buNone/>
              <a:defRPr sz="2025" b="1">
                <a:solidFill>
                  <a:srgbClr val="172D3B"/>
                </a:solidFill>
                <a:latin typeface="DejaVu Sans"/>
                <a:ea typeface="DejaVu Sans"/>
                <a:cs typeface="DejaVu Sans"/>
              </a:defRPr>
            </a:pPr>
            <a:r>
              <a:rPr sz="2025" b="1">
                <a:solidFill>
                  <a:srgbClr val="172D3B"/>
                </a:solidFill>
                <a:latin typeface="DejaVu Sans"/>
                <a:ea typeface="DejaVu Sans"/>
                <a:cs typeface="DejaVu Sans"/>
              </a:rPr>
              <a:t>remain disjoint.</a:t>
            </a:r>
          </a:p>
        </p:txBody>
      </p:sp>
      <p:sp>
        <p:nvSpPr>
          <p:cNvPr id="6" name="limits">
            <a:extLst xmlns:a="http://schemas.openxmlformats.org/drawingml/2006/main">
              <a:ext uri="{FF2B5EF4-FFF2-40B4-BE49-F238E27FC236}">
                <a16:creationId xmlns:a16="http://schemas.microsoft.com/office/drawing/2014/main" id="{23E92F4E-6159-4B26-9E11-9C5DE254DFC1}"/>
              </a:ext>
            </a:extLst>
          </p:cNvPr>
          <p:cNvSpPr>
            <a:spLocks xmlns:a="http://schemas.openxmlformats.org/drawingml/2006/main" noGrp="1"/>
          </p:cNvSpPr>
          <p:nvPr/>
        </p:nvSpPr>
        <p:spPr>
          <a:xfrm xmlns:a="http://schemas.openxmlformats.org/drawingml/2006/main">
            <a:off x="609600" y="556260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566673"/>
                </a:solidFill>
                <a:latin typeface="DejaVu Sans"/>
                <a:ea typeface="DejaVu Sans"/>
                <a:cs typeface="DejaVu Sans"/>
              </a:defRPr>
            </a:defPPr>
          </a:lstStyle>
          <a:p xmlns:a="http://schemas.openxmlformats.org/drawingml/2006/main">
            <a:pPr algn="l">
              <a:buNone/>
              <a:defRPr sz="2175" b="0">
                <a:solidFill>
                  <a:srgbClr val="566673"/>
                </a:solidFill>
                <a:latin typeface="DejaVu Sans"/>
                <a:ea typeface="DejaVu Sans"/>
                <a:cs typeface="DejaVu Sans"/>
              </a:defRPr>
            </a:pPr>
            <a:r>
              <a:rPr sz="2175" b="0">
                <a:solidFill>
                  <a:srgbClr val="566673"/>
                </a:solidFill>
                <a:latin typeface="DejaVu Sans"/>
                <a:ea typeface="DejaVu Sans"/>
                <a:cs typeface="DejaVu Sans"/>
              </a:rPr>
              <a:t>Reference does not supply modal, temporal or probability semantics.</a:t>
            </a:r>
          </a:p>
        </p:txBody>
      </p:sp>
    </p:spTree>
    <p:extLst>
      <p:ext uri="{BB962C8B-B14F-4D97-AF65-F5344CB8AC3E}">
        <p14:creationId xmlns:p14="http://schemas.microsoft.com/office/powerpoint/2010/main" val="832128353"/>
      </p:ext>
    </p:extLst>
  </p:cSld>
</p:sld>
</file>

<file path=ppt/slides/slide18.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E03B7316-6944-4D11-9171-6E64B683DA30}"/>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Recommendation for SULO</a:t>
            </a:r>
          </a:p>
        </p:txBody>
      </p:sp>
      <p:sp>
        <p:nvSpPr>
          <p:cNvPr id="2" name="slide-number">
            <a:extLst xmlns:a="http://schemas.openxmlformats.org/drawingml/2006/main">
              <a:ext uri="{FF2B5EF4-FFF2-40B4-BE49-F238E27FC236}">
                <a16:creationId xmlns:a16="http://schemas.microsoft.com/office/drawing/2014/main" id="{A72119BD-F21C-4D39-BC00-DFE3DABDA5BA}"/>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18</a:t>
            </a:r>
          </a:p>
        </p:txBody>
      </p:sp>
      <p:sp>
        <p:nvSpPr>
          <p:cNvPr id="9" name="recommended-pattern">
            <a:extLst xmlns:a="http://schemas.openxmlformats.org/drawingml/2006/main">
              <a:ext uri="{FF2B5EF4-FFF2-40B4-BE49-F238E27FC236}">
                <a16:creationId xmlns:a16="http://schemas.microsoft.com/office/drawing/2014/main" id="{EFF493D5-9BE1-468A-865A-4A302FB3697B}"/>
              </a:ext>
            </a:extLst>
          </p:cNvPr>
          <p:cNvSpPr>
            <a:spLocks xmlns:a="http://schemas.openxmlformats.org/drawingml/2006/main" noGrp="1"/>
          </p:cNvSpPr>
          <p:nvPr/>
        </p:nvSpPr>
        <p:spPr>
          <a:xfrm xmlns:a="http://schemas.openxmlformats.org/drawingml/2006/main">
            <a:off x="609600" y="11811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6C70"/>
                </a:solidFill>
                <a:latin typeface="DejaVu Sans"/>
                <a:ea typeface="DejaVu Sans"/>
                <a:cs typeface="DejaVu Sans"/>
              </a:defRPr>
            </a:defPPr>
          </a:lstStyle>
          <a:p xmlns:a="http://schemas.openxmlformats.org/drawingml/2006/main">
            <a:pPr algn="l">
              <a:defRPr sz="2250" b="1">
                <a:solidFill>
                  <a:srgbClr val="006C70"/>
                </a:solidFill>
                <a:latin typeface="DejaVu Sans"/>
                <a:ea typeface="DejaVu Sans"/>
                <a:cs typeface="DejaVu Sans"/>
              </a:defRPr>
            </a:pPr>
            <a:r>
              <a:rPr sz="2250" b="1">
                <a:solidFill>
                  <a:srgbClr val="006C70"/>
                </a:solidFill>
                <a:latin typeface="DejaVu Sans"/>
                <a:ea typeface="DejaVu Sans"/>
                <a:cs typeface="DejaVu Sans"/>
              </a:rPr>
              <a:t>Separate named object</a:t>
            </a:r>
          </a:p>
        </p:txBody>
      </p:sp>
      <p:sp>
        <p:nvSpPr>
          <p:cNvPr id="10" name="reference-label">
            <a:extLst xmlns:a="http://schemas.openxmlformats.org/drawingml/2006/main">
              <a:ext uri="{FF2B5EF4-FFF2-40B4-BE49-F238E27FC236}">
                <a16:creationId xmlns:a16="http://schemas.microsoft.com/office/drawing/2014/main" id="{5C2E69F1-DCD3-4CBF-B032-51156DA368D1}"/>
              </a:ext>
            </a:extLst>
          </p:cNvPr>
          <p:cNvSpPr>
            <a:spLocks xmlns:a="http://schemas.openxmlformats.org/drawingml/2006/main" noGrp="1"/>
          </p:cNvSpPr>
          <p:nvPr/>
        </p:nvSpPr>
        <p:spPr>
          <a:xfrm xmlns:a="http://schemas.openxmlformats.org/drawingml/2006/main">
            <a:off x="609600" y="1781175"/>
            <a:ext cx="5286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2D3B"/>
                </a:solidFill>
                <a:latin typeface="DejaVu Sans"/>
                <a:ea typeface="DejaVu Sans"/>
                <a:cs typeface="DejaVu Sans"/>
              </a:defRPr>
            </a:defPPr>
          </a:lstStyle>
          <a:p xmlns:a="http://schemas.openxmlformats.org/drawingml/2006/main">
            <a:pPr algn="l">
              <a:defRPr sz="1950" b="1">
                <a:solidFill>
                  <a:srgbClr val="172D3B"/>
                </a:solidFill>
                <a:latin typeface="DejaVu Sans"/>
                <a:ea typeface="DejaVu Sans"/>
                <a:cs typeface="DejaVu Sans"/>
              </a:defRPr>
            </a:pPr>
            <a:r>
              <a:rPr sz="1950" b="1">
                <a:solidFill>
                  <a:srgbClr val="172D3B"/>
                </a:solidFill>
                <a:latin typeface="DejaVu Sans"/>
                <a:ea typeface="DejaVu Sans"/>
                <a:cs typeface="DejaVu Sans"/>
              </a:rPr>
              <a:t>Reference object and target</a:t>
            </a:r>
          </a:p>
        </p:txBody>
      </p:sp>
      <p:sp>
        <p:nvSpPr>
          <p:cNvPr id="11" name="risk-label">
            <a:extLst xmlns:a="http://schemas.openxmlformats.org/drawingml/2006/main">
              <a:ext uri="{FF2B5EF4-FFF2-40B4-BE49-F238E27FC236}">
                <a16:creationId xmlns:a16="http://schemas.microsoft.com/office/drawing/2014/main" id="{3CF12306-ED2F-48BA-BB84-8AC9B3E36647}"/>
              </a:ext>
            </a:extLst>
          </p:cNvPr>
          <p:cNvSpPr>
            <a:spLocks xmlns:a="http://schemas.openxmlformats.org/drawingml/2006/main" noGrp="1"/>
          </p:cNvSpPr>
          <p:nvPr/>
        </p:nvSpPr>
        <p:spPr>
          <a:xfrm xmlns:a="http://schemas.openxmlformats.org/drawingml/2006/main">
            <a:off x="6286500" y="1781175"/>
            <a:ext cx="529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2D3B"/>
                </a:solidFill>
                <a:latin typeface="DejaVu Sans"/>
                <a:ea typeface="DejaVu Sans"/>
                <a:cs typeface="DejaVu Sans"/>
              </a:defRPr>
            </a:defPPr>
          </a:lstStyle>
          <a:p xmlns:a="http://schemas.openxmlformats.org/drawingml/2006/main">
            <a:pPr algn="l">
              <a:defRPr sz="1950" b="1">
                <a:solidFill>
                  <a:srgbClr val="172D3B"/>
                </a:solidFill>
                <a:latin typeface="DejaVu Sans"/>
                <a:ea typeface="DejaVu Sans"/>
                <a:cs typeface="DejaVu Sans"/>
              </a:defRPr>
            </a:pPr>
            <a:r>
              <a:rPr sz="1950" b="1">
                <a:solidFill>
                  <a:srgbClr val="172D3B"/>
                </a:solidFill>
                <a:latin typeface="DejaVu Sans"/>
                <a:ea typeface="DejaVu Sans"/>
                <a:cs typeface="DejaVu Sans"/>
              </a:rPr>
              <a:t>Risk definition and example</a:t>
            </a:r>
          </a:p>
        </p:txBody>
      </p:sp>
      <p:sp>
        <p:nvSpPr>
          <p:cNvPr id="12" name="reference-axioms">
            <a:extLst xmlns:a="http://schemas.openxmlformats.org/drawingml/2006/main">
              <a:ext uri="{FF2B5EF4-FFF2-40B4-BE49-F238E27FC236}">
                <a16:creationId xmlns:a16="http://schemas.microsoft.com/office/drawing/2014/main" id="{DA62551E-B20D-4431-AAA2-E42B896D3F4F}"/>
              </a:ext>
            </a:extLst>
          </p:cNvPr>
          <p:cNvSpPr>
            <a:spLocks xmlns:a="http://schemas.openxmlformats.org/drawingml/2006/main" noGrp="1"/>
          </p:cNvSpPr>
          <p:nvPr/>
        </p:nvSpPr>
        <p:spPr>
          <a:xfrm xmlns:a="http://schemas.openxmlformats.org/drawingml/2006/main">
            <a:off x="609600" y="2266950"/>
            <a:ext cx="5286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06C70"/>
                </a:solidFill>
                <a:latin typeface="DejaVu Sans Mono"/>
                <a:ea typeface="DejaVu Sans Mono"/>
                <a:cs typeface="DejaVu Sans Mono"/>
              </a:defRPr>
            </a:defPPr>
          </a:lstStyle>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Individual: strokeReference</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Types: Collection</a:t>
            </a:r>
          </a:p>
          <a:p xmlns:a="http://schemas.openxmlformats.org/drawingml/2006/main">
            <a:r>
              <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Class: Stroke</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SubClassOf: Process</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EquivalentTo:</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isItemIn value strokeReference</a:t>
            </a:r>
          </a:p>
        </p:txBody>
      </p:sp>
      <p:sp>
        <p:nvSpPr>
          <p:cNvPr id="13" name="risk-axioms">
            <a:extLst xmlns:a="http://schemas.openxmlformats.org/drawingml/2006/main">
              <a:ext uri="{FF2B5EF4-FFF2-40B4-BE49-F238E27FC236}">
                <a16:creationId xmlns:a16="http://schemas.microsoft.com/office/drawing/2014/main" id="{22420238-5D5F-4442-A155-5690770A021A}"/>
              </a:ext>
            </a:extLst>
          </p:cNvPr>
          <p:cNvSpPr>
            <a:spLocks xmlns:a="http://schemas.openxmlformats.org/drawingml/2006/main" noGrp="1"/>
          </p:cNvSpPr>
          <p:nvPr/>
        </p:nvSpPr>
        <p:spPr>
          <a:xfrm xmlns:a="http://schemas.openxmlformats.org/drawingml/2006/main">
            <a:off x="6286500" y="2266950"/>
            <a:ext cx="529590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06C70"/>
                </a:solidFill>
                <a:latin typeface="DejaVu Sans Mono"/>
                <a:ea typeface="DejaVu Sans Mono"/>
                <a:cs typeface="DejaVu Sans Mono"/>
              </a:defRPr>
            </a:defPPr>
          </a:lstStyle>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Class: IncreasedRiskOfStroke</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EquivalentTo:</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IncreasedRisk and</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refersTo value strokeReference</a:t>
            </a:r>
          </a:p>
          <a:p xmlns:a="http://schemas.openxmlformats.org/drawingml/2006/main">
            <a:r>
              <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Individual: risk1</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Types: IncreasedRisk</a:t>
            </a:r>
          </a:p>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  Facts: refersTo strokeReference</a:t>
            </a:r>
          </a:p>
        </p:txBody>
      </p:sp>
      <p:sp>
        <p:nvSpPr>
          <p:cNvPr id="14" name="recommended-outcome">
            <a:extLst xmlns:a="http://schemas.openxmlformats.org/drawingml/2006/main">
              <a:ext uri="{FF2B5EF4-FFF2-40B4-BE49-F238E27FC236}">
                <a16:creationId xmlns:a16="http://schemas.microsoft.com/office/drawing/2014/main" id="{C09635BC-E85E-40C8-A76D-E81C4355B75C}"/>
              </a:ext>
            </a:extLst>
          </p:cNvPr>
          <p:cNvSpPr>
            <a:spLocks xmlns:a="http://schemas.openxmlformats.org/drawingml/2006/main" noGrp="1"/>
          </p:cNvSpPr>
          <p:nvPr/>
        </p:nvSpPr>
        <p:spPr>
          <a:xfrm xmlns:a="http://schemas.openxmlformats.org/drawingml/2006/main">
            <a:off x="609600" y="5038725"/>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2D3B"/>
                </a:solidFill>
                <a:latin typeface="DejaVu Sans"/>
                <a:ea typeface="DejaVu Sans"/>
                <a:cs typeface="DejaVu Sans"/>
              </a:defRPr>
            </a:defPPr>
          </a:lstStyle>
          <a:p xmlns:a="http://schemas.openxmlformats.org/drawingml/2006/main">
            <a:pPr algn="l">
              <a:defRPr sz="2175" b="1">
                <a:solidFill>
                  <a:srgbClr val="172D3B"/>
                </a:solidFill>
                <a:latin typeface="DejaVu Sans"/>
                <a:ea typeface="DejaVu Sans"/>
                <a:cs typeface="DejaVu Sans"/>
              </a:defRPr>
            </a:pPr>
            <a:r>
              <a:rPr sz="2175" b="1">
                <a:solidFill>
                  <a:srgbClr val="172D3B"/>
                </a:solidFill>
                <a:latin typeface="DejaVu Sans"/>
                <a:ea typeface="DejaVu Sans"/>
                <a:cs typeface="DejaVu Sans"/>
              </a:rPr>
              <a:t>Infer risk1 as IncreasedRiskOfStroke while Stroke can remain empty.</a:t>
            </a:r>
          </a:p>
        </p:txBody>
      </p:sp>
      <p:sp>
        <p:nvSpPr>
          <p:cNvPr id="15" name="membership-inverse">
            <a:extLst xmlns:a="http://schemas.openxmlformats.org/drawingml/2006/main">
              <a:ext uri="{FF2B5EF4-FFF2-40B4-BE49-F238E27FC236}">
                <a16:creationId xmlns:a16="http://schemas.microsoft.com/office/drawing/2014/main" id="{4E649F08-2552-4E4C-AE97-048EB124CB40}"/>
              </a:ext>
            </a:extLst>
          </p:cNvPr>
          <p:cNvSpPr>
            <a:spLocks xmlns:a="http://schemas.openxmlformats.org/drawingml/2006/main" noGrp="1"/>
          </p:cNvSpPr>
          <p:nvPr/>
        </p:nvSpPr>
        <p:spPr>
          <a:xfrm xmlns:a="http://schemas.openxmlformats.org/drawingml/2006/main">
            <a:off x="609600" y="5838825"/>
            <a:ext cx="10972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06C70"/>
                </a:solidFill>
                <a:latin typeface="DejaVu Sans Mono"/>
                <a:ea typeface="DejaVu Sans Mono"/>
                <a:cs typeface="DejaVu Sans Mono"/>
              </a:defRPr>
            </a:defPPr>
          </a:lstStyle>
          <a:p xmlns:a="http://schemas.openxmlformats.org/drawingml/2006/main">
            <a:pPr algn="l">
              <a:defRPr sz="1725" b="0">
                <a:solidFill>
                  <a:srgbClr val="006C70"/>
                </a:solidFill>
                <a:latin typeface="DejaVu Sans Mono"/>
                <a:ea typeface="DejaVu Sans Mono"/>
                <a:cs typeface="DejaVu Sans Mono"/>
              </a:defRPr>
            </a:pPr>
            <a:r>
              <a:rPr sz="1725" b="0">
                <a:solidFill>
                  <a:srgbClr val="006C70"/>
                </a:solidFill>
                <a:latin typeface="DejaVu Sans Mono"/>
                <a:ea typeface="DejaVu Sans Mono"/>
                <a:cs typeface="DejaVu Sans Mono"/>
              </a:rPr>
              <a:t>ObjectProperty: hasItem  InverseOf: isItemIn</a:t>
            </a:r>
          </a:p>
        </p:txBody>
      </p:sp>
      <p:sp>
        <p:nvSpPr>
          <p:cNvPr id="16" name="recommendation-cost">
            <a:extLst xmlns:a="http://schemas.openxmlformats.org/drawingml/2006/main">
              <a:ext uri="{FF2B5EF4-FFF2-40B4-BE49-F238E27FC236}">
                <a16:creationId xmlns:a16="http://schemas.microsoft.com/office/drawing/2014/main" id="{E53DBADC-2E8C-47B6-987D-86C85A181187}"/>
              </a:ext>
            </a:extLst>
          </p:cNvPr>
          <p:cNvSpPr>
            <a:spLocks xmlns:a="http://schemas.openxmlformats.org/drawingml/2006/main" noGrp="1"/>
          </p:cNvSpPr>
          <p:nvPr/>
        </p:nvSpPr>
        <p:spPr>
          <a:xfrm xmlns:a="http://schemas.openxmlformats.org/drawingml/2006/main">
            <a:off x="609600" y="6296025"/>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66673"/>
                </a:solidFill>
                <a:latin typeface="DejaVu Sans"/>
                <a:ea typeface="DejaVu Sans"/>
                <a:cs typeface="DejaVu Sans"/>
              </a:defRPr>
            </a:defPPr>
          </a:lstStyle>
          <a:p xmlns:a="http://schemas.openxmlformats.org/drawingml/2006/main">
            <a:pPr algn="l">
              <a:defRPr sz="1575" b="0">
                <a:solidFill>
                  <a:srgbClr val="566673"/>
                </a:solidFill>
                <a:latin typeface="DejaVu Sans"/>
                <a:ea typeface="DejaVu Sans"/>
                <a:cs typeface="DejaVu Sans"/>
              </a:defRPr>
            </a:pPr>
            <a:r>
              <a:rPr sz="1575" b="0">
                <a:solidFill>
                  <a:srgbClr val="566673"/>
                </a:solidFill>
                <a:latin typeface="DejaVu Sans"/>
                <a:ea typeface="DejaVu Sans"/>
                <a:cs typeface="DejaVu Sans"/>
              </a:rPr>
              <a:t>Cost: one reference individual and bridge per target. Separate identifiers, one domain hierarchy.</a:t>
            </a:r>
          </a:p>
        </p:txBody>
      </p:sp>
    </p:spTree>
    <p:extLst>
      <p:ext uri="{BB962C8B-B14F-4D97-AF65-F5344CB8AC3E}">
        <p14:creationId xmlns:p14="http://schemas.microsoft.com/office/powerpoint/2010/main" val="399199137"/>
      </p:ext>
    </p:extLst>
  </p:cSld>
</p:sld>
</file>

<file path=ppt/slides/slide19.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B7F3F62A-AAC2-4759-8DE9-B0E97E5FD1B3}"/>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Protégé walkthrough</a:t>
            </a:r>
          </a:p>
        </p:txBody>
      </p:sp>
      <p:sp>
        <p:nvSpPr>
          <p:cNvPr id="2" name="slide-number">
            <a:extLst xmlns:a="http://schemas.openxmlformats.org/drawingml/2006/main">
              <a:ext uri="{FF2B5EF4-FFF2-40B4-BE49-F238E27FC236}">
                <a16:creationId xmlns:a16="http://schemas.microsoft.com/office/drawing/2014/main" id="{088B25C6-38D6-4E25-BBBE-73C0E7941465}"/>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19</a:t>
            </a:r>
          </a:p>
        </p:txBody>
      </p:sp>
      <p:graphicFrame>
        <p:nvGraphicFramePr>
          <p:cNvPr id="3" name="">
            <a:extLst xmlns:a="http://schemas.openxmlformats.org/drawingml/2006/main">
              <a:ext uri="{FF2B5EF4-FFF2-40B4-BE49-F238E27FC236}">
                <a16:creationId xmlns:a16="http://schemas.microsoft.com/office/drawing/2014/main" id="{033FBE4A-4077-442D-9F8F-A34AE2B65F0E}"/>
              </a:ext>
            </a:extLst>
          </p:cNvPr>
          <p:cNvGraphicFramePr/>
          <p:nvPr/>
        </p:nvGraphicFramePr>
        <p:xfrm>
          <a:off xmlns:a="http://schemas.openxmlformats.org/drawingml/2006/main" x="609600" y="1562100"/>
          <a:ext xmlns:a="http://schemas.openxmlformats.org/drawingml/2006/main" cx="10972800" cy="4457700"/>
        </p:xfrm>
        <a:graphic xmlns:a="http://schemas.openxmlformats.org/drawingml/2006/main">
          <a:graphicData uri="http://schemas.openxmlformats.org/drawingml/2006/table">
            <a:tbl>
              <a:tblPr firstRow="0" bandRow="0"/>
              <a:tblGrid>
                <a:gridCol w="3171825"/>
                <a:gridCol w="3686175"/>
                <a:gridCol w="4114800"/>
              </a:tblGrid>
              <a:tr h="571500">
                <a:tc>
                  <a:txBody>
                    <a:bodyPr wrap="square">
                      <a:noAutofit/>
                    </a:bodyPr>
                    <a:lstStyle/>
                    <a:p>
                      <a:r>
                        <a:rPr sz="1800" b="1">
                          <a:solidFill>
                            <a:srgbClr val="FFFFFF"/>
                          </a:solidFill>
                          <a:latin typeface="DejaVu Sans"/>
                          <a:ea typeface="DejaVu Sans"/>
                          <a:cs typeface="DejaVu Sans"/>
                        </a:rPr>
                        <a:t>Open</a:t>
                      </a:r>
                    </a:p>
                  </a:txBody>
                  <a:tcPr marL="133350" marR="133350" marT="95250" marB="95250" anchor="ctr">
                    <a:lnL w="6668">
                      <a:solidFill>
                        <a:srgbClr val="CDD6D8"/>
                      </a:solidFill>
                      <a:prstDash val="solid"/>
                    </a:lnL>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Inspect</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c>
                  <a:txBody>
                    <a:bodyPr wrap="square">
                      <a:noAutofit/>
                    </a:bodyPr>
                    <a:lstStyle/>
                    <a:p>
                      <a:r>
                        <a:rPr sz="1800" b="1">
                          <a:solidFill>
                            <a:srgbClr val="FFFFFF"/>
                          </a:solidFill>
                          <a:latin typeface="DejaVu Sans"/>
                          <a:ea typeface="DejaVu Sans"/>
                          <a:cs typeface="DejaVu Sans"/>
                        </a:rPr>
                        <a:t>Expected result</a:t>
                      </a:r>
                    </a:p>
                  </a:txBody>
                  <a:tcPr marL="133350" marR="133350" marT="95250" marB="95250" anchor="ctr">
                    <a:lnR w="6668">
                      <a:solidFill>
                        <a:srgbClr val="CDD6D8"/>
                      </a:solidFill>
                      <a:prstDash val="solid"/>
                    </a:lnR>
                    <a:lnT w="6668">
                      <a:solidFill>
                        <a:srgbClr val="CDD6D8"/>
                      </a:solidFill>
                      <a:prstDash val="solid"/>
                    </a:lnT>
                    <a:lnB w="6668">
                      <a:solidFill>
                        <a:srgbClr val="CDD6D8"/>
                      </a:solidFill>
                      <a:prstDash val="solid"/>
                    </a:lnB>
                    <a:solidFill>
                      <a:srgbClr val="112E3B"/>
                    </a:solidFill>
                  </a:tcPr>
                </a:tc>
              </a:tr>
              <a:tr h="885825">
                <a:tc>
                  <a:txBody>
                    <a:bodyPr wrap="square">
                      <a:noAutofit/>
                    </a:bodyPr>
                    <a:lstStyle/>
                    <a:p>
                      <a:r>
                        <a:rPr sz="1875" b="0">
                          <a:solidFill>
                            <a:srgbClr val="172D3B"/>
                          </a:solidFill>
                          <a:latin typeface="DejaVu Sans"/>
                          <a:ea typeface="DejaVu Sans"/>
                          <a:cs typeface="DejaVu Sans"/>
                        </a:rPr>
                        <a:t>Starter ontology</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risk1 inferred types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IncreasedRiskOfStroke</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1000125">
                <a:tc>
                  <a:txBody>
                    <a:bodyPr wrap="square">
                      <a:noAutofit/>
                    </a:bodyPr>
                    <a:lstStyle/>
                    <a:p>
                      <a:r>
                        <a:rPr sz="1875" b="0">
                          <a:solidFill>
                            <a:srgbClr val="172D3B"/>
                          </a:solidFill>
                          <a:latin typeface="DejaVu Sans"/>
                          <a:ea typeface="DejaVu Sans"/>
                          <a:cs typeface="DejaVu Sans"/>
                        </a:rPr>
                        <a:t>Empty-Stroke experiment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Stroke and the risk class</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Empty target, consistent ontology</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r h="1000125">
                <a:tc>
                  <a:txBody>
                    <a:bodyPr wrap="square">
                      <a:noAutofit/>
                    </a:bodyPr>
                    <a:lstStyle/>
                    <a:p>
                      <a:r>
                        <a:rPr sz="1875" b="0">
                          <a:solidFill>
                            <a:srgbClr val="172D3B"/>
                          </a:solidFill>
                          <a:latin typeface="DejaVu Sans"/>
                          <a:ea typeface="DejaVu Sans"/>
                          <a:cs typeface="DejaVu Sans"/>
                        </a:rPr>
                        <a:t>Membership experiment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Both episode individuals</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c>
                  <a:txBody>
                    <a:bodyPr wrap="square">
                      <a:noAutofit/>
                    </a:bodyPr>
                    <a:lstStyle/>
                    <a:p>
                      <a:r>
                        <a:rPr sz="1875" b="0">
                          <a:solidFill>
                            <a:srgbClr val="172D3B"/>
                          </a:solidFill>
                          <a:latin typeface="DejaVu Sans"/>
                          <a:ea typeface="DejaVu Sans"/>
                          <a:cs typeface="DejaVu Sans"/>
                        </a:rPr>
                        <a:t>Typing and membership infer each other</a:t>
                      </a:r>
                    </a:p>
                  </a:txBody>
                  <a:tcPr marL="133350" marR="133350" marT="95250" marB="95250" anchor="ctr">
                    <a:lnR w="6668">
                      <a:solidFill>
                        <a:srgbClr val="CDD6D8"/>
                      </a:solidFill>
                      <a:prstDash val="solid"/>
                    </a:lnR>
                    <a:lnB w="6668">
                      <a:solidFill>
                        <a:srgbClr val="CDD6D8"/>
                      </a:solidFill>
                      <a:prstDash val="solid"/>
                    </a:lnB>
                    <a:solidFill>
                      <a:srgbClr val="FAF9F5"/>
                    </a:solidFill>
                  </a:tcPr>
                </a:tc>
              </a:tr>
              <a:tr h="1000125">
                <a:tc>
                  <a:txBody>
                    <a:bodyPr wrap="square">
                      <a:noAutofit/>
                    </a:bodyPr>
                    <a:lstStyle/>
                    <a:p>
                      <a:r>
                        <a:rPr sz="1875" b="0">
                          <a:solidFill>
                            <a:srgbClr val="172D3B"/>
                          </a:solidFill>
                          <a:latin typeface="DejaVu Sans"/>
                          <a:ea typeface="DejaVu Sans"/>
                          <a:cs typeface="DejaVu Sans"/>
                        </a:rPr>
                        <a:t>Participation experiment</a:t>
                      </a:r>
                    </a:p>
                  </a:txBody>
                  <a:tcPr marL="133350" marR="133350" marT="95250" marB="95250" anchor="ctr">
                    <a:lnL w="6668">
                      <a:solidFill>
                        <a:srgbClr val="CDD6D8"/>
                      </a:solidFill>
                      <a:prstDash val="solid"/>
                    </a:lnL>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strokeEpisode1 and x</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c>
                  <a:txBody>
                    <a:bodyPr wrap="square">
                      <a:noAutofit/>
                    </a:bodyPr>
                    <a:lstStyle/>
                    <a:p>
                      <a:r>
                        <a:rPr sz="1875" b="0">
                          <a:solidFill>
                            <a:srgbClr val="172D3B"/>
                          </a:solidFill>
                          <a:latin typeface="DejaVu Sans"/>
                          <a:ea typeface="DejaVu Sans"/>
                          <a:cs typeface="DejaVu Sans"/>
                        </a:rPr>
                        <a:t>Risk and bearer participate</a:t>
                      </a:r>
                    </a:p>
                  </a:txBody>
                  <a:tcPr marL="133350" marR="133350" marT="95250" marB="95250" anchor="ctr">
                    <a:lnR w="6668">
                      <a:solidFill>
                        <a:srgbClr val="CDD6D8"/>
                      </a:solidFill>
                      <a:prstDash val="solid"/>
                    </a:lnR>
                    <a:lnB w="6668">
                      <a:solidFill>
                        <a:srgbClr val="CDD6D8"/>
                      </a:solidFill>
                      <a:prstDash val="solid"/>
                    </a:lnB>
                    <a:solidFill>
                      <a:srgbClr val="F1F4F1"/>
                    </a:solidFill>
                  </a:tcPr>
                </a:tc>
              </a:tr>
            </a:tbl>
          </a:graphicData>
        </a:graphic>
      </p:graphicFrame>
    </p:spTree>
    <p:extLst>
      <p:ext uri="{BB962C8B-B14F-4D97-AF65-F5344CB8AC3E}">
        <p14:creationId xmlns:p14="http://schemas.microsoft.com/office/powerpoint/2010/main" val="1085945549"/>
      </p:ext>
    </p:extLst>
  </p:cSld>
</p:sld>
</file>

<file path=ppt/slides/slide20.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639589A-01EF-4567-AFCB-37ADB4CB4E1B}"/>
              </a:ext>
            </a:extLst>
          </p:cNvPr>
          <p:cNvSpPr>
            <a:spLocks xmlns:a="http://schemas.openxmlformats.org/drawingml/2006/main" noGrp="1"/>
          </p:cNvSpPr>
          <p:nvPr/>
        </p:nvSpPr>
        <p:spPr>
          <a:xfrm xmlns:a="http://schemas.openxmlformats.org/drawingml/2006/main">
            <a:off x="609600" y="457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2D3B"/>
                </a:solidFill>
                <a:latin typeface="DejaVu Sans"/>
                <a:ea typeface="DejaVu Sans"/>
                <a:cs typeface="DejaVu Sans"/>
              </a:defRPr>
            </a:defPPr>
          </a:lstStyle>
          <a:p xmlns:a="http://schemas.openxmlformats.org/drawingml/2006/main">
            <a:pPr algn="l">
              <a:buNone/>
              <a:defRPr sz="3300" b="1">
                <a:solidFill>
                  <a:srgbClr val="172D3B"/>
                </a:solidFill>
                <a:latin typeface="DejaVu Sans"/>
                <a:ea typeface="DejaVu Sans"/>
                <a:cs typeface="DejaVu Sans"/>
              </a:defRPr>
            </a:pPr>
            <a:r>
              <a:rPr sz="3300" b="1">
                <a:solidFill>
                  <a:srgbClr val="172D3B"/>
                </a:solidFill>
                <a:latin typeface="DejaVu Sans"/>
                <a:ea typeface="DejaVu Sans"/>
                <a:cs typeface="DejaVu Sans"/>
              </a:rPr>
              <a:t>Questions for the SULO discussion</a:t>
            </a:r>
          </a:p>
        </p:txBody>
      </p:sp>
      <p:sp>
        <p:nvSpPr>
          <p:cNvPr id="2" name="slide-number">
            <a:extLst xmlns:a="http://schemas.openxmlformats.org/drawingml/2006/main">
              <a:ext uri="{FF2B5EF4-FFF2-40B4-BE49-F238E27FC236}">
                <a16:creationId xmlns:a16="http://schemas.microsoft.com/office/drawing/2014/main" id="{1B6F34BA-D869-4CCE-9C91-E6DF63B2879D}"/>
              </a:ext>
            </a:extLst>
          </p:cNvPr>
          <p:cNvSpPr>
            <a:spLocks xmlns:a="http://schemas.openxmlformats.org/drawingml/2006/main" noGrp="1"/>
          </p:cNvSpPr>
          <p:nvPr/>
        </p:nvSpPr>
        <p:spPr>
          <a:xfrm xmlns:a="http://schemas.openxmlformats.org/drawingml/2006/main">
            <a:off x="111252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66673"/>
                </a:solidFill>
                <a:latin typeface="DejaVu Sans"/>
                <a:ea typeface="DejaVu Sans"/>
                <a:cs typeface="DejaVu Sans"/>
              </a:defRPr>
            </a:defPPr>
          </a:lstStyle>
          <a:p xmlns:a="http://schemas.openxmlformats.org/drawingml/2006/main">
            <a:pPr algn="r">
              <a:buNone/>
              <a:defRPr sz="1275" b="0">
                <a:solidFill>
                  <a:srgbClr val="566673"/>
                </a:solidFill>
                <a:latin typeface="DejaVu Sans"/>
                <a:ea typeface="DejaVu Sans"/>
                <a:cs typeface="DejaVu Sans"/>
              </a:defRPr>
            </a:pPr>
            <a:r>
              <a:rPr sz="1275" b="0">
                <a:solidFill>
                  <a:srgbClr val="566673"/>
                </a:solidFill>
                <a:latin typeface="DejaVu Sans"/>
                <a:ea typeface="DejaVu Sans"/>
                <a:cs typeface="DejaVu Sans"/>
              </a:rPr>
              <a:t>20</a:t>
            </a:r>
          </a:p>
        </p:txBody>
      </p:sp>
      <p:sp>
        <p:nvSpPr>
          <p:cNvPr id="3" name="discussion-1">
            <a:extLst xmlns:a="http://schemas.openxmlformats.org/drawingml/2006/main">
              <a:ext uri="{FF2B5EF4-FFF2-40B4-BE49-F238E27FC236}">
                <a16:creationId xmlns:a16="http://schemas.microsoft.com/office/drawing/2014/main" id="{1D6F4127-473E-46B3-A130-3A524FA7FB0F}"/>
              </a:ext>
            </a:extLst>
          </p:cNvPr>
          <p:cNvSpPr>
            <a:spLocks xmlns:a="http://schemas.openxmlformats.org/drawingml/2006/main" noGrp="1"/>
          </p:cNvSpPr>
          <p:nvPr/>
        </p:nvSpPr>
        <p:spPr>
          <a:xfrm xmlns:a="http://schemas.openxmlformats.org/drawingml/2006/main">
            <a:off x="609600" y="1571625"/>
            <a:ext cx="1085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3B"/>
                </a:solidFill>
                <a:latin typeface="DejaVu Sans"/>
                <a:ea typeface="DejaVu Sans"/>
                <a:cs typeface="DejaVu Sans"/>
              </a:defRPr>
            </a:defPPr>
          </a:lstStyle>
          <a:p xmlns:a="http://schemas.openxmlformats.org/drawingml/2006/main">
            <a:pPr algn="l">
              <a:buNone/>
              <a:defRPr sz="2325" b="1">
                <a:solidFill>
                  <a:srgbClr val="172D3B"/>
                </a:solidFill>
                <a:latin typeface="DejaVu Sans"/>
                <a:ea typeface="DejaVu Sans"/>
                <a:cs typeface="DejaVu Sans"/>
              </a:defRPr>
            </a:pPr>
            <a:r>
              <a:rPr sz="2325" b="1">
                <a:solidFill>
                  <a:srgbClr val="172D3B"/>
                </a:solidFill>
                <a:latin typeface="DejaVu Sans"/>
                <a:ea typeface="DejaVu Sans"/>
                <a:cs typeface="DejaVu Sans"/>
              </a:rPr>
              <a:t>What should preserve the identity of a reference object</a:t>
            </a:r>
          </a:p>
          <a:p xmlns:a="http://schemas.openxmlformats.org/drawingml/2006/main">
            <a:pPr algn="l">
              <a:buNone/>
              <a:defRPr sz="2325" b="1">
                <a:solidFill>
                  <a:srgbClr val="172D3B"/>
                </a:solidFill>
                <a:latin typeface="DejaVu Sans"/>
                <a:ea typeface="DejaVu Sans"/>
                <a:cs typeface="DejaVu Sans"/>
              </a:defRPr>
            </a:pPr>
            <a:r>
              <a:rPr sz="2325" b="1">
                <a:solidFill>
                  <a:srgbClr val="172D3B"/>
                </a:solidFill>
                <a:latin typeface="DejaVu Sans"/>
                <a:ea typeface="DejaVu Sans"/>
                <a:cs typeface="DejaVu Sans"/>
              </a:rPr>
              <a:t>when the ontology changes?</a:t>
            </a:r>
          </a:p>
        </p:txBody>
      </p:sp>
      <p:sp>
        <p:nvSpPr>
          <p:cNvPr id="4" name="discussion-2">
            <a:extLst xmlns:a="http://schemas.openxmlformats.org/drawingml/2006/main">
              <a:ext uri="{FF2B5EF4-FFF2-40B4-BE49-F238E27FC236}">
                <a16:creationId xmlns:a16="http://schemas.microsoft.com/office/drawing/2014/main" id="{03D41FC6-3BE9-4E2D-A647-16451CB973C0}"/>
              </a:ext>
            </a:extLst>
          </p:cNvPr>
          <p:cNvSpPr>
            <a:spLocks xmlns:a="http://schemas.openxmlformats.org/drawingml/2006/main" noGrp="1"/>
          </p:cNvSpPr>
          <p:nvPr/>
        </p:nvSpPr>
        <p:spPr>
          <a:xfrm xmlns:a="http://schemas.openxmlformats.org/drawingml/2006/main">
            <a:off x="609600" y="2762250"/>
            <a:ext cx="1085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3B"/>
                </a:solidFill>
                <a:latin typeface="DejaVu Sans"/>
                <a:ea typeface="DejaVu Sans"/>
                <a:cs typeface="DejaVu Sans"/>
              </a:defRPr>
            </a:defPPr>
          </a:lstStyle>
          <a:p xmlns:a="http://schemas.openxmlformats.org/drawingml/2006/main">
            <a:pPr algn="l">
              <a:buNone/>
              <a:defRPr sz="2325" b="1">
                <a:solidFill>
                  <a:srgbClr val="172D3B"/>
                </a:solidFill>
                <a:latin typeface="DejaVu Sans"/>
                <a:ea typeface="DejaVu Sans"/>
                <a:cs typeface="DejaVu Sans"/>
              </a:defRPr>
            </a:pPr>
            <a:r>
              <a:rPr sz="2325" b="1">
                <a:solidFill>
                  <a:srgbClr val="172D3B"/>
                </a:solidFill>
                <a:latin typeface="DejaVu Sans"/>
                <a:ea typeface="DejaVu Sans"/>
                <a:cs typeface="DejaVu Sans"/>
              </a:rPr>
              <a:t>Which direct reference assertions should license</a:t>
            </a:r>
          </a:p>
          <a:p xmlns:a="http://schemas.openxmlformats.org/drawingml/2006/main">
            <a:pPr algn="l">
              <a:buNone/>
              <a:defRPr sz="2325" b="1">
                <a:solidFill>
                  <a:srgbClr val="172D3B"/>
                </a:solidFill>
                <a:latin typeface="DejaVu Sans"/>
                <a:ea typeface="DejaVu Sans"/>
                <a:cs typeface="DejaVu Sans"/>
              </a:defRPr>
            </a:pPr>
            <a:r>
              <a:rPr sz="2325" b="1">
                <a:solidFill>
                  <a:srgbClr val="172D3B"/>
                </a:solidFill>
                <a:latin typeface="DejaVu Sans"/>
                <a:ea typeface="DejaVu Sans"/>
                <a:cs typeface="DejaVu Sans"/>
              </a:rPr>
              <a:t>generic classification?</a:t>
            </a:r>
          </a:p>
        </p:txBody>
      </p:sp>
      <p:sp>
        <p:nvSpPr>
          <p:cNvPr id="5" name="discussion-3">
            <a:extLst xmlns:a="http://schemas.openxmlformats.org/drawingml/2006/main">
              <a:ext uri="{FF2B5EF4-FFF2-40B4-BE49-F238E27FC236}">
                <a16:creationId xmlns:a16="http://schemas.microsoft.com/office/drawing/2014/main" id="{1E78641B-C962-4FB5-9000-FA6D11CEA7D5}"/>
              </a:ext>
            </a:extLst>
          </p:cNvPr>
          <p:cNvSpPr>
            <a:spLocks xmlns:a="http://schemas.openxmlformats.org/drawingml/2006/main" noGrp="1"/>
          </p:cNvSpPr>
          <p:nvPr/>
        </p:nvSpPr>
        <p:spPr>
          <a:xfrm xmlns:a="http://schemas.openxmlformats.org/drawingml/2006/main">
            <a:off x="609600" y="3952875"/>
            <a:ext cx="108585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72D3B"/>
                </a:solidFill>
                <a:latin typeface="DejaVu Sans"/>
                <a:ea typeface="DejaVu Sans"/>
                <a:cs typeface="DejaVu Sans"/>
              </a:defRPr>
            </a:defPPr>
          </a:lstStyle>
          <a:p xmlns:a="http://schemas.openxmlformats.org/drawingml/2006/main">
            <a:pPr algn="l">
              <a:buNone/>
              <a:defRPr sz="2325" b="1">
                <a:solidFill>
                  <a:srgbClr val="172D3B"/>
                </a:solidFill>
                <a:latin typeface="DejaVu Sans"/>
                <a:ea typeface="DejaVu Sans"/>
                <a:cs typeface="DejaVu Sans"/>
              </a:defRPr>
            </a:pPr>
            <a:r>
              <a:rPr sz="2325" b="1">
                <a:solidFill>
                  <a:srgbClr val="172D3B"/>
                </a:solidFill>
                <a:latin typeface="DejaVu Sans"/>
                <a:ea typeface="DejaVu Sans"/>
                <a:cs typeface="DejaVu Sans"/>
              </a:rPr>
              <a:t>Which superclass relations justify additional reference edges?</a:t>
            </a:r>
          </a:p>
        </p:txBody>
      </p:sp>
      <p:sp>
        <p:nvSpPr>
          <p:cNvPr id="6" name="discussion-4">
            <a:extLst xmlns:a="http://schemas.openxmlformats.org/drawingml/2006/main">
              <a:ext uri="{FF2B5EF4-FFF2-40B4-BE49-F238E27FC236}">
                <a16:creationId xmlns:a16="http://schemas.microsoft.com/office/drawing/2014/main" id="{BF6ED5E3-F69F-4FE3-B917-380816D41741}"/>
              </a:ext>
            </a:extLst>
          </p:cNvPr>
          <p:cNvSpPr>
            <a:spLocks xmlns:a="http://schemas.openxmlformats.org/drawingml/2006/main" noGrp="1"/>
          </p:cNvSpPr>
          <p:nvPr/>
        </p:nvSpPr>
        <p:spPr>
          <a:xfrm xmlns:a="http://schemas.openxmlformats.org/drawingml/2006/main">
            <a:off x="609600" y="5143500"/>
            <a:ext cx="1085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006C70"/>
                </a:solidFill>
                <a:latin typeface="DejaVu Sans"/>
                <a:ea typeface="DejaVu Sans"/>
                <a:cs typeface="DejaVu Sans"/>
              </a:defRPr>
            </a:defPPr>
          </a:lstStyle>
          <a:p xmlns:a="http://schemas.openxmlformats.org/drawingml/2006/main">
            <a:pPr algn="l">
              <a:buNone/>
              <a:defRPr sz="2325" b="1">
                <a:solidFill>
                  <a:srgbClr val="006C70"/>
                </a:solidFill>
                <a:latin typeface="DejaVu Sans"/>
                <a:ea typeface="DejaVu Sans"/>
                <a:cs typeface="DejaVu Sans"/>
              </a:defRPr>
            </a:pPr>
            <a:r>
              <a:rPr sz="2325" b="1">
                <a:solidFill>
                  <a:srgbClr val="006C70"/>
                </a:solidFill>
                <a:latin typeface="DejaVu Sans"/>
                <a:ea typeface="DejaVu Sans"/>
                <a:cs typeface="DejaVu Sans"/>
              </a:rPr>
              <a:t>Should broad feature-level reference live in SULO’s core</a:t>
            </a:r>
          </a:p>
          <a:p xmlns:a="http://schemas.openxmlformats.org/drawingml/2006/main">
            <a:pPr algn="l">
              <a:buNone/>
              <a:defRPr sz="2325" b="1">
                <a:solidFill>
                  <a:srgbClr val="006C70"/>
                </a:solidFill>
                <a:latin typeface="DejaVu Sans"/>
                <a:ea typeface="DejaVu Sans"/>
                <a:cs typeface="DejaVu Sans"/>
              </a:defRPr>
            </a:pPr>
            <a:r>
              <a:rPr sz="2325" b="1">
                <a:solidFill>
                  <a:srgbClr val="006C70"/>
                </a:solidFill>
                <a:latin typeface="DejaVu Sans"/>
                <a:ea typeface="DejaVu Sans"/>
                <a:cs typeface="DejaVu Sans"/>
              </a:rPr>
              <a:t>or in a separate pattern module?</a:t>
            </a:r>
          </a:p>
        </p:txBody>
      </p:sp>
    </p:spTree>
    <p:extLst>
      <p:ext uri="{BB962C8B-B14F-4D97-AF65-F5344CB8AC3E}">
        <p14:creationId xmlns:p14="http://schemas.microsoft.com/office/powerpoint/2010/main" val="225641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2026-10-15T11:54:56.1060000Z</dcterms:created>
  <dcterms:modified xsi:type="dcterms:W3CDTF">2026-10-15T11:54:56.1060000Z</dcterms:modified>
</coreProperties>
</file>